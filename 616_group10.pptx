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60" r:id="rId4"/>
    <p:sldId id="280" r:id="rId5"/>
    <p:sldId id="276" r:id="rId6"/>
    <p:sldId id="277" r:id="rId7"/>
    <p:sldId id="278" r:id="rId8"/>
    <p:sldId id="279" r:id="rId9"/>
    <p:sldId id="261" r:id="rId10"/>
    <p:sldId id="262" r:id="rId11"/>
    <p:sldId id="265" r:id="rId12"/>
    <p:sldId id="258" r:id="rId13"/>
    <p:sldId id="259" r:id="rId14"/>
    <p:sldId id="282" r:id="rId15"/>
    <p:sldId id="263" r:id="rId16"/>
    <p:sldId id="264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81" r:id="rId27"/>
    <p:sldId id="275" r:id="rId2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2" d="100"/>
          <a:sy n="112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78939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3" name="Google Shape;13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4" name="Google Shape;194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33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590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8FB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824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389888"/>
            <a:ext cx="813816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Edge AI-Oriented Quantization Sensitivity Analysis</a:t>
            </a:r>
            <a:endParaRPr lang="en-US" sz="2400" dirty="0"/>
          </a:p>
          <a:p>
            <a:pPr marL="0" indent="0" algn="ctr">
              <a:buNone/>
            </a:pPr>
            <a:r>
              <a:rPr lang="en-US" sz="2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of YOLO Layers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777240" y="2212848"/>
            <a:ext cx="7589520" cy="30175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Autofit/>
          </a:bodyPr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 experiment for layer-group quantization, accuracy degradation, and mixed-precision FPGA design implications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330656" y="2656536"/>
            <a:ext cx="6667614" cy="10205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 10:</a:t>
            </a:r>
            <a:r>
              <a:rPr lang="zh-TW" alt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黃裕傑、李祐庭、郭景淳、陶安、王靖崴、王睿綸、李彥廷</a:t>
            </a: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    </a:t>
            </a:r>
          </a:p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Date: 2026/6/1</a:t>
            </a:r>
            <a:r>
              <a:rPr lang="en-US" altLang="zh-TW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97280" y="3813048"/>
            <a:ext cx="31089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Vision Final Report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700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734972C-A0F6-4D50-A742-0E55DA014E5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8071" y="484496"/>
            <a:ext cx="1127858" cy="8795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 rot="2700000">
            <a:off x="960120" y="1005840"/>
            <a:ext cx="2057400" cy="205740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A2EB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996969" y="18516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Outline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3840480" y="960120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3840480" y="992124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315968" y="950976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r>
              <a:rPr lang="en-US" altLang="zh-TW" sz="135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Introduction/Background/Motivation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840480" y="1636776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1668780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4315968" y="1627632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altLang="zh-TW" sz="135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Description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3840480" y="2313432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840480" y="2345436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4315968" y="2304288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Technical Approach (Methodology)</a:t>
            </a:r>
            <a:endParaRPr lang="en-US" sz="1350" dirty="0"/>
          </a:p>
        </p:txBody>
      </p:sp>
      <p:sp>
        <p:nvSpPr>
          <p:cNvPr id="14" name="Shape 11"/>
          <p:cNvSpPr/>
          <p:nvPr/>
        </p:nvSpPr>
        <p:spPr>
          <a:xfrm>
            <a:off x="3840480" y="2990088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3022092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4315968" y="2980944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1350" dirty="0"/>
          </a:p>
        </p:txBody>
      </p:sp>
      <p:sp>
        <p:nvSpPr>
          <p:cNvPr id="17" name="Shape 14"/>
          <p:cNvSpPr/>
          <p:nvPr/>
        </p:nvSpPr>
        <p:spPr>
          <a:xfrm>
            <a:off x="3840480" y="3666744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3840480" y="3698748"/>
            <a:ext cx="2926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850" dirty="0"/>
          </a:p>
        </p:txBody>
      </p:sp>
      <p:sp>
        <p:nvSpPr>
          <p:cNvPr id="19" name="Text 16"/>
          <p:cNvSpPr/>
          <p:nvPr/>
        </p:nvSpPr>
        <p:spPr>
          <a:xfrm>
            <a:off x="4315968" y="3657600"/>
            <a:ext cx="420624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Introduction/Background/Motivation</a:t>
            </a:r>
          </a:p>
        </p:txBody>
      </p:sp>
      <p:sp>
        <p:nvSpPr>
          <p:cNvPr id="5" name="Text 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9143999" cy="5143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45770" y="397764"/>
            <a:ext cx="6309360" cy="362407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2175" b="1" dirty="0">
                <a:solidFill>
                  <a:srgbClr val="1F3763"/>
                </a:solidFill>
                <a:latin typeface="Times New Roman"/>
              </a:rPr>
              <a:t>Edge AI Applications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2629" y="795528"/>
            <a:ext cx="1405889" cy="30861"/>
          </a:xfrm>
          <a:prstGeom prst="rect">
            <a:avLst/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sp>
        <p:nvSpPr>
          <p:cNvPr id="6" name="TextBox 5"/>
          <p:cNvSpPr txBox="1"/>
          <p:nvPr/>
        </p:nvSpPr>
        <p:spPr>
          <a:xfrm>
            <a:off x="466344" y="857250"/>
            <a:ext cx="6309360" cy="189283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l"/>
            <a:r>
              <a:rPr sz="1050" dirty="0">
                <a:solidFill>
                  <a:srgbClr val="5A5A5A"/>
                </a:solidFill>
                <a:latin typeface="Times New Roman"/>
              </a:rPr>
              <a:t>From real-time vision workloads to FPGA-oriented object detection acceleration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7" y="1213866"/>
            <a:ext cx="2983229" cy="133731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444" tIns="61722" rIns="82296" rtlCol="0" anchor="ctr"/>
          <a:lstStyle/>
          <a:p>
            <a:pPr algn="ctr">
              <a:spcAft>
                <a:spcPts val="375"/>
              </a:spcAft>
              <a:defRPr sz="1700" b="1">
                <a:solidFill>
                  <a:srgbClr val="1F3763"/>
                </a:solidFill>
                <a:latin typeface="Times New Roman"/>
              </a:defRPr>
            </a:pPr>
            <a:r>
              <a:rPr sz="1275"/>
              <a:t>Where Edge AI is Needed</a:t>
            </a:r>
          </a:p>
          <a:p>
            <a:pPr marL="195000">
              <a:lnSpc>
                <a:spcPct val="105000"/>
              </a:lnSpc>
              <a:spcAft>
                <a:spcPts val="150"/>
              </a:spcAft>
              <a:defRPr sz="1360">
                <a:solidFill>
                  <a:srgbClr val="232323"/>
                </a:solidFill>
                <a:latin typeface="Times New Roman"/>
              </a:defRPr>
            </a:pPr>
            <a:r>
              <a:rPr sz="1020"/>
              <a:t>• Satellites: onboard detection before downlink</a:t>
            </a:r>
          </a:p>
          <a:p>
            <a:pPr marL="195000">
              <a:lnSpc>
                <a:spcPct val="105000"/>
              </a:lnSpc>
              <a:spcAft>
                <a:spcPts val="150"/>
              </a:spcAft>
              <a:defRPr sz="1360">
                <a:solidFill>
                  <a:srgbClr val="232323"/>
                </a:solidFill>
                <a:latin typeface="Times New Roman"/>
              </a:defRPr>
            </a:pPr>
            <a:r>
              <a:rPr sz="1020"/>
              <a:t>• Drones: inspection, search, tracking, mapping</a:t>
            </a:r>
          </a:p>
          <a:p>
            <a:pPr marL="195000">
              <a:lnSpc>
                <a:spcPct val="105000"/>
              </a:lnSpc>
              <a:spcAft>
                <a:spcPts val="150"/>
              </a:spcAft>
              <a:defRPr sz="1360">
                <a:solidFill>
                  <a:srgbClr val="232323"/>
                </a:solidFill>
                <a:latin typeface="Times New Roman"/>
              </a:defRPr>
            </a:pPr>
            <a:r>
              <a:rPr sz="1020"/>
              <a:t>• Autonomous vehicles: obstacle and traffic perception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3777" y="2626614"/>
            <a:ext cx="2983229" cy="13578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ED3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444" tIns="61722" rIns="82296" rtlCol="0" anchor="ctr"/>
          <a:lstStyle/>
          <a:p>
            <a:pPr algn="ctr">
              <a:spcAft>
                <a:spcPts val="375"/>
              </a:spcAft>
              <a:defRPr sz="1700" b="1">
                <a:solidFill>
                  <a:srgbClr val="1F3763"/>
                </a:solidFill>
                <a:latin typeface="Times New Roman"/>
              </a:defRPr>
            </a:pPr>
            <a:r>
              <a:rPr sz="1275" dirty="0"/>
              <a:t>Common System Constraints</a:t>
            </a:r>
          </a:p>
          <a:p>
            <a:pPr marL="195000">
              <a:lnSpc>
                <a:spcPct val="105000"/>
              </a:lnSpc>
              <a:spcAft>
                <a:spcPts val="150"/>
              </a:spcAft>
              <a:defRPr sz="1360">
                <a:solidFill>
                  <a:srgbClr val="232323"/>
                </a:solidFill>
                <a:latin typeface="Times New Roman"/>
              </a:defRPr>
            </a:pPr>
            <a:r>
              <a:rPr sz="1020" dirty="0"/>
              <a:t>• Real-time response under limited power and cooling</a:t>
            </a:r>
          </a:p>
          <a:p>
            <a:pPr marL="195000">
              <a:lnSpc>
                <a:spcPct val="105000"/>
              </a:lnSpc>
              <a:spcAft>
                <a:spcPts val="150"/>
              </a:spcAft>
              <a:defRPr sz="1360">
                <a:solidFill>
                  <a:srgbClr val="232323"/>
                </a:solidFill>
                <a:latin typeface="Times New Roman"/>
              </a:defRPr>
            </a:pPr>
            <a:r>
              <a:rPr sz="1020" dirty="0"/>
              <a:t>• Limited memory bandwidth and unreliable cloud access</a:t>
            </a:r>
          </a:p>
          <a:p>
            <a:pPr marL="195000">
              <a:lnSpc>
                <a:spcPct val="105000"/>
              </a:lnSpc>
              <a:spcAft>
                <a:spcPts val="150"/>
              </a:spcAft>
              <a:defRPr sz="1360">
                <a:solidFill>
                  <a:srgbClr val="232323"/>
                </a:solidFill>
                <a:latin typeface="Times New Roman"/>
              </a:defRPr>
            </a:pPr>
            <a:r>
              <a:rPr sz="1020" dirty="0"/>
              <a:t>• Deterministic latency is often more important than peak TOPS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69030" y="1062990"/>
            <a:ext cx="4972050" cy="277749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350"/>
          </a:p>
        </p:txBody>
      </p:sp>
      <p:pic>
        <p:nvPicPr>
          <p:cNvPr id="10" name="Picture 9" descr="a_clean_infographic_slide_style_illustration_on_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7610" y="1152144"/>
            <a:ext cx="4834890" cy="2585466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493776" y="4128516"/>
            <a:ext cx="8126730" cy="706374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703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3444" tIns="54864" rIns="123444" bIns="27432" rtlCol="0" anchor="ctr"/>
          <a:lstStyle/>
          <a:p>
            <a:pPr algn="ctr">
              <a:defRPr sz="1420">
                <a:solidFill>
                  <a:srgbClr val="232323"/>
                </a:solidFill>
                <a:latin typeface="Times New Roman"/>
              </a:defRPr>
            </a:pPr>
            <a:r>
              <a:rPr sz="1400" dirty="0"/>
              <a:t>Bridge to YOLO FPGA: YOLO provides fast single-stage object detection; FPGA maps repeated convolution operations into custom parallel pipelines; quantization reduces weight memory and arithmetic cost so the model becomes edge-deployable.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72500" y="4834890"/>
            <a:ext cx="274320" cy="131574"/>
          </a:xfrm>
          <a:prstGeom prst="rect">
            <a:avLst/>
          </a:prstGeom>
          <a:noFill/>
        </p:spPr>
        <p:txBody>
          <a:bodyPr wrap="square" lIns="20574" tIns="13716" rIns="20574" bIns="13716" anchor="t">
            <a:spAutoFit/>
          </a:bodyPr>
          <a:lstStyle/>
          <a:p>
            <a:pPr algn="r"/>
            <a:r>
              <a:rPr sz="675">
                <a:solidFill>
                  <a:srgbClr val="5A5A5A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4" descr="/mnt/data/template_blank_render/slide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13648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What Is an FPGA?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56B4"/>
              </a:buClr>
              <a:buSzPts val="780"/>
              <a:buFont typeface="Times New Roman"/>
              <a:buNone/>
            </a:pPr>
            <a:r>
              <a:rPr lang="en-US" sz="780" b="0" i="1" u="none" strike="noStrike" cap="none">
                <a:solidFill>
                  <a:srgbClr val="8D56B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Field-Programmable Gate Array: a reconfigurable hardware fabric between CPU flexibility and ASIC efficiency</a:t>
            </a:r>
            <a:endParaRPr sz="7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02920" y="896112"/>
            <a:ext cx="813816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1230"/>
              <a:buFont typeface="Times New Roman"/>
              <a:buNone/>
            </a:pPr>
            <a:r>
              <a:rPr lang="en-US" sz="140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 FPGA is not a processor running instructions one-by-one. It is a chip whose logic circuits, memory blocks, DSP units, and interconnects can be configured to form a custom </a:t>
            </a:r>
            <a:r>
              <a:rPr lang="en-US" sz="1400" b="0" i="0" u="none" strike="noStrike" cap="none" dirty="0" err="1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datapath</a:t>
            </a:r>
            <a:r>
              <a:rPr lang="en-US" sz="140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for a target algorithm.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777240" y="1783080"/>
            <a:ext cx="2788920" cy="2011680"/>
          </a:xfrm>
          <a:prstGeom prst="roundRect">
            <a:avLst>
              <a:gd name="adj" fmla="val 3636"/>
            </a:avLst>
          </a:prstGeom>
          <a:solidFill>
            <a:srgbClr val="F9FBFD"/>
          </a:solidFill>
          <a:ln w="9525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4"/>
          <p:cNvSpPr/>
          <p:nvPr/>
        </p:nvSpPr>
        <p:spPr>
          <a:xfrm>
            <a:off x="704088" y="1920240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3566160" y="1920240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/>
          <p:nvPr/>
        </p:nvSpPr>
        <p:spPr>
          <a:xfrm>
            <a:off x="704088" y="2267712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3566160" y="2267712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" name="Google Shape;46;p4"/>
          <p:cNvSpPr/>
          <p:nvPr/>
        </p:nvSpPr>
        <p:spPr>
          <a:xfrm>
            <a:off x="704088" y="2615184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3566160" y="2615184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4"/>
          <p:cNvSpPr/>
          <p:nvPr/>
        </p:nvSpPr>
        <p:spPr>
          <a:xfrm>
            <a:off x="704088" y="2962656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3566160" y="2962656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704088" y="3310128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566160" y="3310128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704088" y="3657600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3566160" y="3657600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4"/>
          <p:cNvSpPr/>
          <p:nvPr/>
        </p:nvSpPr>
        <p:spPr>
          <a:xfrm>
            <a:off x="914400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914400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4"/>
          <p:cNvSpPr/>
          <p:nvPr/>
        </p:nvSpPr>
        <p:spPr>
          <a:xfrm>
            <a:off x="1273629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1273629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4"/>
          <p:cNvSpPr/>
          <p:nvPr/>
        </p:nvSpPr>
        <p:spPr>
          <a:xfrm>
            <a:off x="1632857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1632857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4"/>
          <p:cNvSpPr/>
          <p:nvPr/>
        </p:nvSpPr>
        <p:spPr>
          <a:xfrm>
            <a:off x="1992086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1992086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4"/>
          <p:cNvSpPr/>
          <p:nvPr/>
        </p:nvSpPr>
        <p:spPr>
          <a:xfrm>
            <a:off x="2351314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351314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4"/>
          <p:cNvSpPr/>
          <p:nvPr/>
        </p:nvSpPr>
        <p:spPr>
          <a:xfrm>
            <a:off x="2710543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2710543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4"/>
          <p:cNvSpPr/>
          <p:nvPr/>
        </p:nvSpPr>
        <p:spPr>
          <a:xfrm>
            <a:off x="3069771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069771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4"/>
          <p:cNvSpPr/>
          <p:nvPr/>
        </p:nvSpPr>
        <p:spPr>
          <a:xfrm>
            <a:off x="3429000" y="170992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429000" y="3794760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1234440" y="1810512"/>
            <a:ext cx="1874520" cy="128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850"/>
              <a:buFont typeface="Times New Roman"/>
              <a:buNone/>
            </a:pPr>
            <a:r>
              <a:rPr lang="en-US" sz="8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Fabric</a:t>
            </a:r>
            <a:endParaRPr sz="8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1127978" y="2167128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6F0FA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4"/>
          <p:cNvSpPr/>
          <p:nvPr/>
        </p:nvSpPr>
        <p:spPr>
          <a:xfrm>
            <a:off x="1164554" y="2203704"/>
            <a:ext cx="8869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LUT / FF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Logic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2225258" y="2167128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2F0E2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2261834" y="2203704"/>
            <a:ext cx="8869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DSP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Multiply-Accumulate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4"/>
          <p:cNvSpPr/>
          <p:nvPr/>
        </p:nvSpPr>
        <p:spPr>
          <a:xfrm>
            <a:off x="1127978" y="2962656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FFF3CD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4"/>
          <p:cNvSpPr/>
          <p:nvPr/>
        </p:nvSpPr>
        <p:spPr>
          <a:xfrm>
            <a:off x="1164554" y="2999232"/>
            <a:ext cx="8869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BRAM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On-chip Buffer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2225258" y="2962656"/>
            <a:ext cx="960120" cy="502920"/>
          </a:xfrm>
          <a:prstGeom prst="roundRect">
            <a:avLst>
              <a:gd name="adj" fmla="val 14545"/>
            </a:avLst>
          </a:prstGeom>
          <a:solidFill>
            <a:srgbClr val="EFE7F7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2261834" y="2999232"/>
            <a:ext cx="88696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Routing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93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Interconnect</a:t>
            </a:r>
            <a:endParaRPr sz="93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79" name="Google Shape;79;p4"/>
          <p:cNvCxnSpPr/>
          <p:nvPr/>
        </p:nvCxnSpPr>
        <p:spPr>
          <a:xfrm>
            <a:off x="4251960" y="2057400"/>
            <a:ext cx="3566160" cy="0"/>
          </a:xfrm>
          <a:prstGeom prst="straightConnector1">
            <a:avLst/>
          </a:prstGeom>
          <a:noFill/>
          <a:ln w="15225" cap="flat" cmpd="sng">
            <a:solidFill>
              <a:srgbClr val="1E2F55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0" name="Google Shape;80;p4"/>
          <p:cNvSpPr/>
          <p:nvPr/>
        </p:nvSpPr>
        <p:spPr>
          <a:xfrm>
            <a:off x="3913632" y="1773936"/>
            <a:ext cx="7315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3950208" y="1810512"/>
            <a:ext cx="6583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CPU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257800" y="1773936"/>
            <a:ext cx="731520" cy="475488"/>
          </a:xfrm>
          <a:prstGeom prst="roundRect">
            <a:avLst>
              <a:gd name="adj" fmla="val 15385"/>
            </a:avLst>
          </a:prstGeom>
          <a:solidFill>
            <a:srgbClr val="E6F0FA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5294376" y="1810512"/>
            <a:ext cx="65836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GPU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4" name="Google Shape;84;p4"/>
          <p:cNvSpPr/>
          <p:nvPr/>
        </p:nvSpPr>
        <p:spPr>
          <a:xfrm>
            <a:off x="6492240" y="1773936"/>
            <a:ext cx="822960" cy="475488"/>
          </a:xfrm>
          <a:prstGeom prst="roundRect">
            <a:avLst>
              <a:gd name="adj" fmla="val 15385"/>
            </a:avLst>
          </a:prstGeom>
          <a:solidFill>
            <a:srgbClr val="E2F0E2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6539529" y="1815084"/>
            <a:ext cx="74980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7818120" y="1773936"/>
            <a:ext cx="777240" cy="475488"/>
          </a:xfrm>
          <a:prstGeom prst="roundRect">
            <a:avLst>
              <a:gd name="adj" fmla="val 15385"/>
            </a:avLst>
          </a:prstGeom>
          <a:solidFill>
            <a:srgbClr val="FFF3CD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7854696" y="1810512"/>
            <a:ext cx="704088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ASIC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3474720" y="2331720"/>
            <a:ext cx="173736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920"/>
              <a:buFont typeface="Times New Roman"/>
              <a:buNone/>
            </a:pPr>
            <a:r>
              <a:rPr lang="en-US" sz="92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software flexibility</a:t>
            </a:r>
            <a:endParaRPr sz="92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7223760" y="2311146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920"/>
              <a:buFont typeface="Times New Roman"/>
              <a:buNone/>
            </a:pPr>
            <a:r>
              <a:rPr lang="en-US" sz="92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More hardware specialization</a:t>
            </a:r>
            <a:endParaRPr sz="92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069080" y="2926079"/>
            <a:ext cx="4343400" cy="1097279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9525" cap="flat" cmpd="sng">
            <a:solidFill>
              <a:srgbClr val="D8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4"/>
          <p:cNvSpPr/>
          <p:nvPr/>
        </p:nvSpPr>
        <p:spPr>
          <a:xfrm>
            <a:off x="4251960" y="3063240"/>
            <a:ext cx="397764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080"/>
              <a:buFont typeface="Times New Roman"/>
              <a:buNone/>
            </a:pPr>
            <a:r>
              <a:rPr lang="en-US" sz="1400" b="0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idea : convert repeated operations such as convolution into deeply pipelined parallel hardware, so many pixels, channels, and partial sums are processed at the same time.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8577072" y="4617720"/>
            <a:ext cx="2286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700"/>
              <a:buFont typeface="Times New Roman"/>
              <a:buNone/>
            </a:pPr>
            <a:r>
              <a:rPr lang="en-US" sz="700" b="0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sz="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5" descr="/mnt/data/template_blank_render/slide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Put YOLO on FPGA?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5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56B4"/>
              </a:buClr>
              <a:buSzPts val="780"/>
              <a:buFont typeface="Times New Roman"/>
              <a:buNone/>
            </a:pPr>
            <a:r>
              <a:rPr lang="en-US" sz="780" b="0" i="1" u="none" strike="noStrike" cap="none">
                <a:solidFill>
                  <a:srgbClr val="8D56B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Object detection is useful only when latency, power, and deployment constraints are satisfied</a:t>
            </a:r>
            <a:endParaRPr sz="7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2" name="Google Shape;102;p5"/>
          <p:cNvCxnSpPr/>
          <p:nvPr/>
        </p:nvCxnSpPr>
        <p:spPr>
          <a:xfrm>
            <a:off x="1600200" y="1691640"/>
            <a:ext cx="301752" cy="0"/>
          </a:xfrm>
          <a:prstGeom prst="straightConnector1">
            <a:avLst/>
          </a:prstGeom>
          <a:noFill/>
          <a:ln w="1395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3" name="Google Shape;103;p5"/>
          <p:cNvCxnSpPr/>
          <p:nvPr/>
        </p:nvCxnSpPr>
        <p:spPr>
          <a:xfrm>
            <a:off x="2880360" y="1691640"/>
            <a:ext cx="393192" cy="0"/>
          </a:xfrm>
          <a:prstGeom prst="straightConnector1">
            <a:avLst/>
          </a:prstGeom>
          <a:noFill/>
          <a:ln w="1395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4" name="Google Shape;104;p5"/>
          <p:cNvCxnSpPr/>
          <p:nvPr/>
        </p:nvCxnSpPr>
        <p:spPr>
          <a:xfrm>
            <a:off x="4251960" y="1691640"/>
            <a:ext cx="256032" cy="0"/>
          </a:xfrm>
          <a:prstGeom prst="straightConnector1">
            <a:avLst/>
          </a:prstGeom>
          <a:noFill/>
          <a:ln w="1395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5" name="Google Shape;105;p5"/>
          <p:cNvCxnSpPr/>
          <p:nvPr/>
        </p:nvCxnSpPr>
        <p:spPr>
          <a:xfrm>
            <a:off x="5486400" y="1691640"/>
            <a:ext cx="256032" cy="0"/>
          </a:xfrm>
          <a:prstGeom prst="straightConnector1">
            <a:avLst/>
          </a:prstGeom>
          <a:noFill/>
          <a:ln w="1395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6" name="Google Shape;106;p5"/>
          <p:cNvCxnSpPr/>
          <p:nvPr/>
        </p:nvCxnSpPr>
        <p:spPr>
          <a:xfrm>
            <a:off x="6720840" y="1691640"/>
            <a:ext cx="393192" cy="0"/>
          </a:xfrm>
          <a:prstGeom prst="straightConnector1">
            <a:avLst/>
          </a:prstGeom>
          <a:noFill/>
          <a:ln w="1395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07" name="Google Shape;107;p5"/>
          <p:cNvSpPr/>
          <p:nvPr/>
        </p:nvSpPr>
        <p:spPr>
          <a:xfrm>
            <a:off x="685800" y="1417320"/>
            <a:ext cx="932688" cy="566928"/>
          </a:xfrm>
          <a:prstGeom prst="roundRect">
            <a:avLst>
              <a:gd name="adj" fmla="val 12903"/>
            </a:avLst>
          </a:prstGeom>
          <a:solidFill>
            <a:srgbClr val="E6F0FA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"/>
          <p:cNvSpPr/>
          <p:nvPr/>
        </p:nvSpPr>
        <p:spPr>
          <a:xfrm>
            <a:off x="722376" y="1453896"/>
            <a:ext cx="8595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Stream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1965960" y="1417320"/>
            <a:ext cx="932688" cy="566928"/>
          </a:xfrm>
          <a:prstGeom prst="roundRect">
            <a:avLst>
              <a:gd name="adj" fmla="val 12903"/>
            </a:avLst>
          </a:prstGeom>
          <a:solidFill>
            <a:srgbClr val="EFE7F7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5"/>
          <p:cNvSpPr/>
          <p:nvPr/>
        </p:nvSpPr>
        <p:spPr>
          <a:xfrm>
            <a:off x="2002536" y="1453896"/>
            <a:ext cx="8595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Backbone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337560" y="1417320"/>
            <a:ext cx="932688" cy="566928"/>
          </a:xfrm>
          <a:prstGeom prst="roundRect">
            <a:avLst>
              <a:gd name="adj" fmla="val 12903"/>
            </a:avLst>
          </a:prstGeom>
          <a:solidFill>
            <a:srgbClr val="E2F0E2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374136" y="1453896"/>
            <a:ext cx="8595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Neck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Fusion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4572000" y="1417320"/>
            <a:ext cx="932688" cy="566928"/>
          </a:xfrm>
          <a:prstGeom prst="roundRect">
            <a:avLst>
              <a:gd name="adj" fmla="val 12903"/>
            </a:avLst>
          </a:prstGeom>
          <a:solidFill>
            <a:srgbClr val="FFF3CD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4608576" y="1453896"/>
            <a:ext cx="8595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Head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Boxes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806440" y="1417320"/>
            <a:ext cx="932688" cy="566928"/>
          </a:xfrm>
          <a:prstGeom prst="roundRect">
            <a:avLst>
              <a:gd name="adj" fmla="val 12903"/>
            </a:avLst>
          </a:prstGeom>
          <a:solidFill>
            <a:srgbClr val="F7DED9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5843016" y="1453896"/>
            <a:ext cx="8595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NMS /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Control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7178040" y="1417320"/>
            <a:ext cx="932688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9525" cap="flat" cmpd="sng">
            <a:solidFill>
              <a:srgbClr val="C7CDD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7214616" y="1453896"/>
            <a:ext cx="859536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3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Detections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77240" y="2514600"/>
            <a:ext cx="685800" cy="594360"/>
          </a:xfrm>
          <a:prstGeom prst="chevron">
            <a:avLst>
              <a:gd name="adj" fmla="val 50000"/>
            </a:avLst>
          </a:prstGeom>
          <a:solidFill>
            <a:srgbClr val="E6F0FA"/>
          </a:solidFill>
          <a:ln w="9525" cap="flat" cmpd="sng">
            <a:solidFill>
              <a:srgbClr val="BCC5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1554480" y="2542032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2EB0"/>
              </a:buClr>
              <a:buSzPts val="125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6A2E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 latency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1554480" y="283464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89"/>
              <a:buFont typeface="Times New Roman"/>
              <a:buNone/>
            </a:pPr>
            <a:r>
              <a:rPr lang="en-US" sz="89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 streaming pipeline can output detections with deterministic timing, important for robotics, inspection, and autonomous systems.</a:t>
            </a:r>
            <a:endParaRPr sz="89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3520440" y="2514600"/>
            <a:ext cx="685800" cy="594360"/>
          </a:xfrm>
          <a:prstGeom prst="chevron">
            <a:avLst>
              <a:gd name="adj" fmla="val 50000"/>
            </a:avLst>
          </a:prstGeom>
          <a:solidFill>
            <a:srgbClr val="E2F0E2"/>
          </a:solidFill>
          <a:ln w="9525" cap="flat" cmpd="sng">
            <a:solidFill>
              <a:srgbClr val="BCC5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4297680" y="2542032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2EB0"/>
              </a:buClr>
              <a:buSzPts val="1250"/>
              <a:buFont typeface="Times New Roman"/>
              <a:buNone/>
            </a:pPr>
            <a:r>
              <a:rPr lang="en-US" sz="1250" b="1" i="0" u="none" strike="noStrike" cap="none">
                <a:solidFill>
                  <a:srgbClr val="6A2E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Power efficiency</a:t>
            </a:r>
            <a:endParaRPr sz="12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4297680" y="283464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89"/>
              <a:buFont typeface="Times New Roman"/>
              <a:buNone/>
            </a:pPr>
            <a:r>
              <a:rPr lang="en-US" sz="8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Fixed-point datapaths avoid the overhead of full FP32 arithmetic and reduce external memory movement.</a:t>
            </a:r>
            <a:endParaRPr sz="8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6263640" y="2514600"/>
            <a:ext cx="685800" cy="594360"/>
          </a:xfrm>
          <a:prstGeom prst="chevron">
            <a:avLst>
              <a:gd name="adj" fmla="val 50000"/>
            </a:avLst>
          </a:prstGeom>
          <a:solidFill>
            <a:srgbClr val="FFF3CD"/>
          </a:solidFill>
          <a:ln w="9525" cap="flat" cmpd="sng">
            <a:solidFill>
              <a:srgbClr val="BCC5C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7040880" y="2542032"/>
            <a:ext cx="1600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2EB0"/>
              </a:buClr>
              <a:buSzPts val="1250"/>
              <a:buFont typeface="Times New Roman"/>
              <a:buNone/>
            </a:pPr>
            <a:r>
              <a:rPr lang="en-US" sz="1250" b="1" i="0" u="none" strike="noStrike" cap="none">
                <a:solidFill>
                  <a:srgbClr val="6A2E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Edge deployment</a:t>
            </a:r>
            <a:endParaRPr sz="12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040880" y="2834640"/>
            <a:ext cx="162763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89"/>
              <a:buFont typeface="Times New Roman"/>
              <a:buNone/>
            </a:pPr>
            <a:r>
              <a:rPr lang="en-US" sz="8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boards can be placed close to sensors when cloud latency, privacy, or network reliability is unacceptable.</a:t>
            </a:r>
            <a:endParaRPr sz="8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77240" y="4160520"/>
            <a:ext cx="763524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50"/>
              <a:buFont typeface="Times New Roman"/>
              <a:buNone/>
            </a:pPr>
            <a:r>
              <a:rPr lang="en-US" sz="140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YOLO, the main advantage is not “higher peak TOPS” alone. It is predictable, customized, low-power inference under real-time constraints.</a:t>
            </a:r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8577072" y="4617720"/>
            <a:ext cx="2286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700"/>
              <a:buFont typeface="Times New Roman"/>
              <a:buNone/>
            </a:pPr>
            <a:r>
              <a:rPr lang="en-US" sz="700" b="0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sz="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6" descr="/mnt/data/template_blank_render/slide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6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Challenges in FPGA-Based AI Acceleration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56B4"/>
              </a:buClr>
              <a:buSzPts val="780"/>
              <a:buFont typeface="Times New Roman"/>
              <a:buNone/>
            </a:pPr>
            <a:r>
              <a:rPr lang="en-US" sz="780" b="0" i="1" u="none" strike="noStrike" cap="none">
                <a:solidFill>
                  <a:srgbClr val="8D56B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bottleneck is often data movement and numerical representation, not only MAC count</a:t>
            </a:r>
            <a:endParaRPr sz="7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3794760" y="1572768"/>
            <a:ext cx="1572768" cy="1097280"/>
          </a:xfrm>
          <a:prstGeom prst="roundRect">
            <a:avLst>
              <a:gd name="adj" fmla="val 6667"/>
            </a:avLst>
          </a:prstGeom>
          <a:solidFill>
            <a:srgbClr val="F9FBFD"/>
          </a:solidFill>
          <a:ln w="9525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6"/>
          <p:cNvSpPr/>
          <p:nvPr/>
        </p:nvSpPr>
        <p:spPr>
          <a:xfrm>
            <a:off x="3721608" y="1709928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"/>
          <p:cNvSpPr/>
          <p:nvPr/>
        </p:nvSpPr>
        <p:spPr>
          <a:xfrm>
            <a:off x="5367528" y="1709928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6"/>
          <p:cNvSpPr/>
          <p:nvPr/>
        </p:nvSpPr>
        <p:spPr>
          <a:xfrm>
            <a:off x="3721608" y="1874520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6"/>
          <p:cNvSpPr/>
          <p:nvPr/>
        </p:nvSpPr>
        <p:spPr>
          <a:xfrm>
            <a:off x="5367528" y="1874520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6"/>
          <p:cNvSpPr/>
          <p:nvPr/>
        </p:nvSpPr>
        <p:spPr>
          <a:xfrm>
            <a:off x="3721608" y="2039112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6"/>
          <p:cNvSpPr/>
          <p:nvPr/>
        </p:nvSpPr>
        <p:spPr>
          <a:xfrm>
            <a:off x="5367528" y="2039112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6"/>
          <p:cNvSpPr/>
          <p:nvPr/>
        </p:nvSpPr>
        <p:spPr>
          <a:xfrm>
            <a:off x="3721608" y="2203704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6"/>
          <p:cNvSpPr/>
          <p:nvPr/>
        </p:nvSpPr>
        <p:spPr>
          <a:xfrm>
            <a:off x="5367528" y="2203704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6"/>
          <p:cNvSpPr/>
          <p:nvPr/>
        </p:nvSpPr>
        <p:spPr>
          <a:xfrm>
            <a:off x="3721608" y="2368296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6"/>
          <p:cNvSpPr/>
          <p:nvPr/>
        </p:nvSpPr>
        <p:spPr>
          <a:xfrm>
            <a:off x="5367528" y="2368296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"/>
          <p:cNvSpPr/>
          <p:nvPr/>
        </p:nvSpPr>
        <p:spPr>
          <a:xfrm>
            <a:off x="3721608" y="2532888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6"/>
          <p:cNvSpPr/>
          <p:nvPr/>
        </p:nvSpPr>
        <p:spPr>
          <a:xfrm>
            <a:off x="5367528" y="2532888"/>
            <a:ext cx="73152" cy="2743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"/>
          <p:cNvSpPr/>
          <p:nvPr/>
        </p:nvSpPr>
        <p:spPr>
          <a:xfrm>
            <a:off x="3931920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6"/>
          <p:cNvSpPr/>
          <p:nvPr/>
        </p:nvSpPr>
        <p:spPr>
          <a:xfrm>
            <a:off x="3931920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6"/>
          <p:cNvSpPr/>
          <p:nvPr/>
        </p:nvSpPr>
        <p:spPr>
          <a:xfrm>
            <a:off x="4117413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6"/>
          <p:cNvSpPr/>
          <p:nvPr/>
        </p:nvSpPr>
        <p:spPr>
          <a:xfrm>
            <a:off x="4117413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6"/>
          <p:cNvSpPr/>
          <p:nvPr/>
        </p:nvSpPr>
        <p:spPr>
          <a:xfrm>
            <a:off x="4302905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6"/>
          <p:cNvSpPr/>
          <p:nvPr/>
        </p:nvSpPr>
        <p:spPr>
          <a:xfrm>
            <a:off x="4302905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6"/>
          <p:cNvSpPr/>
          <p:nvPr/>
        </p:nvSpPr>
        <p:spPr>
          <a:xfrm>
            <a:off x="4488398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6"/>
          <p:cNvSpPr/>
          <p:nvPr/>
        </p:nvSpPr>
        <p:spPr>
          <a:xfrm>
            <a:off x="4488398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6"/>
          <p:cNvSpPr/>
          <p:nvPr/>
        </p:nvSpPr>
        <p:spPr>
          <a:xfrm>
            <a:off x="4673890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6"/>
          <p:cNvSpPr/>
          <p:nvPr/>
        </p:nvSpPr>
        <p:spPr>
          <a:xfrm>
            <a:off x="4673890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6"/>
          <p:cNvSpPr/>
          <p:nvPr/>
        </p:nvSpPr>
        <p:spPr>
          <a:xfrm>
            <a:off x="4859383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6"/>
          <p:cNvSpPr/>
          <p:nvPr/>
        </p:nvSpPr>
        <p:spPr>
          <a:xfrm>
            <a:off x="4859383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6"/>
          <p:cNvSpPr/>
          <p:nvPr/>
        </p:nvSpPr>
        <p:spPr>
          <a:xfrm>
            <a:off x="5044875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"/>
          <p:cNvSpPr/>
          <p:nvPr/>
        </p:nvSpPr>
        <p:spPr>
          <a:xfrm>
            <a:off x="5044875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6"/>
          <p:cNvSpPr/>
          <p:nvPr/>
        </p:nvSpPr>
        <p:spPr>
          <a:xfrm>
            <a:off x="5230368" y="1499616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"/>
          <p:cNvSpPr/>
          <p:nvPr/>
        </p:nvSpPr>
        <p:spPr>
          <a:xfrm>
            <a:off x="5230368" y="2670048"/>
            <a:ext cx="27432" cy="73152"/>
          </a:xfrm>
          <a:prstGeom prst="rect">
            <a:avLst/>
          </a:prstGeom>
          <a:solidFill>
            <a:srgbClr val="445A76"/>
          </a:solidFill>
          <a:ln w="12700" cap="flat" cmpd="sng">
            <a:solidFill>
              <a:srgbClr val="445A7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6"/>
          <p:cNvSpPr/>
          <p:nvPr/>
        </p:nvSpPr>
        <p:spPr>
          <a:xfrm>
            <a:off x="3867912" y="2002536"/>
            <a:ext cx="142646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350"/>
              <a:buFont typeface="Times New Roman"/>
              <a:buNone/>
            </a:pPr>
            <a:r>
              <a:rPr lang="en-US" sz="13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YOLO</a:t>
            </a:r>
            <a:endParaRPr sz="13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350"/>
              <a:buFont typeface="Times New Roman"/>
              <a:buNone/>
            </a:pPr>
            <a:r>
              <a:rPr lang="en-US" sz="13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Accelerator</a:t>
            </a:r>
            <a:endParaRPr sz="13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9" name="Google Shape;169;p6"/>
          <p:cNvCxnSpPr/>
          <p:nvPr/>
        </p:nvCxnSpPr>
        <p:spPr>
          <a:xfrm>
            <a:off x="2971800" y="1490472"/>
            <a:ext cx="777240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6"/>
          <p:cNvCxnSpPr/>
          <p:nvPr/>
        </p:nvCxnSpPr>
        <p:spPr>
          <a:xfrm rot="10800000">
            <a:off x="5394960" y="1490472"/>
            <a:ext cx="1051560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6"/>
          <p:cNvCxnSpPr/>
          <p:nvPr/>
        </p:nvCxnSpPr>
        <p:spPr>
          <a:xfrm>
            <a:off x="2971800" y="3227832"/>
            <a:ext cx="777240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6"/>
          <p:cNvCxnSpPr/>
          <p:nvPr/>
        </p:nvCxnSpPr>
        <p:spPr>
          <a:xfrm rot="10800000">
            <a:off x="5394960" y="3227832"/>
            <a:ext cx="1051560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6"/>
          <p:cNvCxnSpPr/>
          <p:nvPr/>
        </p:nvCxnSpPr>
        <p:spPr>
          <a:xfrm>
            <a:off x="3657600" y="3803904"/>
            <a:ext cx="1737360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74" name="Google Shape;174;p6"/>
          <p:cNvSpPr/>
          <p:nvPr/>
        </p:nvSpPr>
        <p:spPr>
          <a:xfrm>
            <a:off x="960120" y="11430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7DED9"/>
          </a:solidFill>
          <a:ln w="9525" cap="flat" cmpd="sng">
            <a:solidFill>
              <a:srgbClr val="CCD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6"/>
          <p:cNvSpPr/>
          <p:nvPr/>
        </p:nvSpPr>
        <p:spPr>
          <a:xfrm>
            <a:off x="1051560" y="12161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Model size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1069848" y="1490472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70"/>
              <a:buFont typeface="Times New Roman"/>
              <a:buNone/>
            </a:pPr>
            <a:r>
              <a:rPr lang="en-US" sz="87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Weights exceed on-chip memory</a:t>
            </a:r>
            <a:endParaRPr sz="87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6446520" y="114300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3CD"/>
          </a:solidFill>
          <a:ln w="9525" cap="flat" cmpd="sng">
            <a:solidFill>
              <a:srgbClr val="CCD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"/>
          <p:cNvSpPr/>
          <p:nvPr/>
        </p:nvSpPr>
        <p:spPr>
          <a:xfrm>
            <a:off x="6537960" y="121615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Bandwidth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6556248" y="1490472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70"/>
              <a:buFont typeface="Times New Roman"/>
              <a:buNone/>
            </a:pPr>
            <a:r>
              <a:rPr lang="en-US" sz="87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maps move repeatedly</a:t>
            </a:r>
            <a:endParaRPr sz="87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960120" y="288036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6F0FA"/>
          </a:solidFill>
          <a:ln w="9525" cap="flat" cmpd="sng">
            <a:solidFill>
              <a:srgbClr val="CCD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6"/>
          <p:cNvSpPr/>
          <p:nvPr/>
        </p:nvSpPr>
        <p:spPr>
          <a:xfrm>
            <a:off x="1051560" y="2953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Precision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1069848" y="3227832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70"/>
              <a:buFont typeface="Times New Roman"/>
              <a:buNone/>
            </a:pPr>
            <a:r>
              <a:rPr lang="en-US" sz="87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FP32 is expensive in LUT/DSP</a:t>
            </a:r>
            <a:endParaRPr sz="87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6446520" y="288036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FE7F7"/>
          </a:solidFill>
          <a:ln w="9525" cap="flat" cmpd="sng">
            <a:solidFill>
              <a:srgbClr val="CCD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6"/>
          <p:cNvSpPr/>
          <p:nvPr/>
        </p:nvSpPr>
        <p:spPr>
          <a:xfrm>
            <a:off x="6537960" y="2953512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Irregular ops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6556248" y="3227832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70"/>
              <a:buFont typeface="Times New Roman"/>
              <a:buNone/>
            </a:pPr>
            <a:r>
              <a:rPr lang="en-US" sz="87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NMS, dynamic shapes, control flow</a:t>
            </a:r>
            <a:endParaRPr sz="87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3657600" y="3456432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E2F0E2"/>
          </a:solidFill>
          <a:ln w="9525" cap="flat" cmpd="sng">
            <a:solidFill>
              <a:srgbClr val="CCD2D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6"/>
          <p:cNvSpPr/>
          <p:nvPr/>
        </p:nvSpPr>
        <p:spPr>
          <a:xfrm>
            <a:off x="3749040" y="3529584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Timing closure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3767328" y="3803904"/>
            <a:ext cx="1792224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870"/>
              <a:buFont typeface="Times New Roman"/>
              <a:buNone/>
            </a:pPr>
            <a:r>
              <a:rPr lang="en-US" sz="87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High parallelism makes routing hard</a:t>
            </a:r>
            <a:endParaRPr sz="87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777240" y="4343400"/>
            <a:ext cx="777240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20"/>
              <a:buFont typeface="Times New Roman"/>
              <a:buNone/>
            </a:pPr>
            <a:r>
              <a:rPr lang="en-US" sz="112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a naive YOLO-to-FPGA mapping may be slower or larger than expected unless the model and hardware dataflow are co-designed.</a:t>
            </a:r>
            <a:endParaRPr sz="112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8577072" y="4617720"/>
            <a:ext cx="2286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700"/>
              <a:buFont typeface="Times New Roman"/>
              <a:buNone/>
            </a:pPr>
            <a:r>
              <a:rPr lang="en-US" sz="700" b="0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sz="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7" descr="/mnt/data/template_blank_render/slide-3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700"/>
              <a:buFont typeface="Times New Roman"/>
              <a:buNone/>
            </a:pPr>
            <a:r>
              <a:rPr lang="en-US" sz="170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Solutions: Quantization Is One Part of Hardware-Aware Design</a:t>
            </a:r>
            <a:endParaRPr sz="1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50" tIns="250" rIns="250" bIns="25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8D56B4"/>
              </a:buClr>
              <a:buSzPts val="780"/>
              <a:buFont typeface="Times New Roman"/>
              <a:buNone/>
            </a:pPr>
            <a:r>
              <a:rPr lang="en-US" sz="780" b="0" i="1" u="none" strike="noStrike" cap="none">
                <a:solidFill>
                  <a:srgbClr val="8D56B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final goal is an accuracy-preserving model that maps efficiently to FPGA resources</a:t>
            </a:r>
            <a:endParaRPr sz="7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200" name="Google Shape;200;p7"/>
          <p:cNvCxnSpPr/>
          <p:nvPr/>
        </p:nvCxnSpPr>
        <p:spPr>
          <a:xfrm>
            <a:off x="2011680" y="1673352"/>
            <a:ext cx="301752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7"/>
          <p:cNvCxnSpPr/>
          <p:nvPr/>
        </p:nvCxnSpPr>
        <p:spPr>
          <a:xfrm>
            <a:off x="3749040" y="1673352"/>
            <a:ext cx="301752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7"/>
          <p:cNvCxnSpPr/>
          <p:nvPr/>
        </p:nvCxnSpPr>
        <p:spPr>
          <a:xfrm>
            <a:off x="5486400" y="1673352"/>
            <a:ext cx="301752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3" name="Google Shape;203;p7"/>
          <p:cNvCxnSpPr/>
          <p:nvPr/>
        </p:nvCxnSpPr>
        <p:spPr>
          <a:xfrm>
            <a:off x="7223760" y="1673352"/>
            <a:ext cx="27432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4" name="Google Shape;204;p7"/>
          <p:cNvSpPr/>
          <p:nvPr/>
        </p:nvSpPr>
        <p:spPr>
          <a:xfrm>
            <a:off x="685800" y="1234440"/>
            <a:ext cx="1325880" cy="896112"/>
          </a:xfrm>
          <a:prstGeom prst="roundRect">
            <a:avLst>
              <a:gd name="adj" fmla="val 8163"/>
            </a:avLst>
          </a:prstGeom>
          <a:solidFill>
            <a:srgbClr val="FFF3CD"/>
          </a:solidFill>
          <a:ln w="9525" cap="flat" cmpd="sng">
            <a:solidFill>
              <a:srgbClr val="CBD2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7"/>
          <p:cNvSpPr/>
          <p:nvPr/>
        </p:nvSpPr>
        <p:spPr>
          <a:xfrm>
            <a:off x="740664" y="1307592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" name="Google Shape;206;p7"/>
          <p:cNvSpPr/>
          <p:nvPr/>
        </p:nvSpPr>
        <p:spPr>
          <a:xfrm>
            <a:off x="749808" y="1664208"/>
            <a:ext cx="11978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FP32 → INT8/INT6/INT4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Reduce DSP, BRAM, bandwidth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7"/>
          <p:cNvSpPr/>
          <p:nvPr/>
        </p:nvSpPr>
        <p:spPr>
          <a:xfrm>
            <a:off x="2423160" y="1234440"/>
            <a:ext cx="1325880" cy="896112"/>
          </a:xfrm>
          <a:prstGeom prst="roundRect">
            <a:avLst>
              <a:gd name="adj" fmla="val 8163"/>
            </a:avLst>
          </a:prstGeom>
          <a:solidFill>
            <a:srgbClr val="E2F0E2"/>
          </a:solidFill>
          <a:ln w="9525" cap="flat" cmpd="sng">
            <a:solidFill>
              <a:srgbClr val="CBD2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7"/>
          <p:cNvSpPr/>
          <p:nvPr/>
        </p:nvSpPr>
        <p:spPr>
          <a:xfrm>
            <a:off x="2478024" y="1307592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Pruning /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Slimming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" name="Google Shape;209;p7"/>
          <p:cNvSpPr/>
          <p:nvPr/>
        </p:nvSpPr>
        <p:spPr>
          <a:xfrm>
            <a:off x="2487168" y="1664208"/>
            <a:ext cx="11978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Remove redundant channels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Lower MAC count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" name="Google Shape;210;p7"/>
          <p:cNvSpPr/>
          <p:nvPr/>
        </p:nvSpPr>
        <p:spPr>
          <a:xfrm>
            <a:off x="4160520" y="1234440"/>
            <a:ext cx="1325880" cy="896112"/>
          </a:xfrm>
          <a:prstGeom prst="roundRect">
            <a:avLst>
              <a:gd name="adj" fmla="val 8163"/>
            </a:avLst>
          </a:prstGeom>
          <a:solidFill>
            <a:srgbClr val="E6F0FA"/>
          </a:solidFill>
          <a:ln w="9525" cap="flat" cmpd="sng">
            <a:solidFill>
              <a:srgbClr val="CBD2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7"/>
          <p:cNvSpPr/>
          <p:nvPr/>
        </p:nvSpPr>
        <p:spPr>
          <a:xfrm>
            <a:off x="4215384" y="1307592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Dataflow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4224528" y="1664208"/>
            <a:ext cx="11978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Tiling + buffering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Reuse activations and weights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5897880" y="1234440"/>
            <a:ext cx="1325880" cy="896112"/>
          </a:xfrm>
          <a:prstGeom prst="roundRect">
            <a:avLst>
              <a:gd name="adj" fmla="val 8163"/>
            </a:avLst>
          </a:prstGeom>
          <a:solidFill>
            <a:srgbClr val="EFE7F7"/>
          </a:solidFill>
          <a:ln w="9525" cap="flat" cmpd="sng">
            <a:solidFill>
              <a:srgbClr val="CBD2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7"/>
          <p:cNvSpPr/>
          <p:nvPr/>
        </p:nvSpPr>
        <p:spPr>
          <a:xfrm>
            <a:off x="5952744" y="1307592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Pipelining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5961888" y="1664208"/>
            <a:ext cx="11978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Overlap load, compute, store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Improve throughput</a:t>
            </a:r>
            <a:endParaRPr sz="69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7634558" y="1234440"/>
            <a:ext cx="1325880" cy="896112"/>
          </a:xfrm>
          <a:prstGeom prst="roundRect">
            <a:avLst>
              <a:gd name="adj" fmla="val 8163"/>
            </a:avLst>
          </a:prstGeom>
          <a:solidFill>
            <a:srgbClr val="F7DED9"/>
          </a:solidFill>
          <a:ln w="9525" cap="flat" cmpd="sng">
            <a:solidFill>
              <a:srgbClr val="CBD2D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7"/>
          <p:cNvSpPr/>
          <p:nvPr/>
        </p:nvSpPr>
        <p:spPr>
          <a:xfrm>
            <a:off x="7415784" y="1307592"/>
            <a:ext cx="121615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Layer-wise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980"/>
              <a:buFont typeface="Times New Roman"/>
              <a:buNone/>
            </a:pPr>
            <a:r>
              <a:rPr lang="en-US" sz="980" b="1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Sensitivity</a:t>
            </a:r>
            <a:endParaRPr sz="98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7661990" y="1664208"/>
            <a:ext cx="1197864" cy="347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Keep sensitive layers higher precision</a:t>
            </a:r>
            <a:endParaRPr sz="69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690"/>
              <a:buFont typeface="Times New Roman"/>
              <a:buNone/>
            </a:pPr>
            <a:r>
              <a:rPr lang="en-US" sz="69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Quantize tolerant layers aggressively</a:t>
            </a:r>
            <a:endParaRPr sz="69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868680" y="2880360"/>
            <a:ext cx="333756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9525" cap="flat" cmpd="sng">
            <a:solidFill>
              <a:srgbClr val="D8DE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7"/>
          <p:cNvSpPr/>
          <p:nvPr/>
        </p:nvSpPr>
        <p:spPr>
          <a:xfrm>
            <a:off x="1005840" y="2971800"/>
            <a:ext cx="15544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2EB0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6A2E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Quantization principle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1005840" y="3246120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939"/>
              <a:buFont typeface="Times New Roman"/>
              <a:buNone/>
            </a:pPr>
            <a:r>
              <a:rPr lang="en-US" sz="940" b="0" i="0" u="none" strike="noStrike" cap="none" dirty="0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Represent weights and activations with fewer bits. The hardware becomes cheaper, but numerical error increases.</a:t>
            </a:r>
            <a:endParaRPr sz="94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4800600" y="2880360"/>
            <a:ext cx="3520440" cy="804672"/>
          </a:xfrm>
          <a:prstGeom prst="roundRect">
            <a:avLst>
              <a:gd name="adj" fmla="val 9091"/>
            </a:avLst>
          </a:prstGeom>
          <a:solidFill>
            <a:srgbClr val="EFE7F7"/>
          </a:solidFill>
          <a:ln w="9525" cap="flat" cmpd="sng">
            <a:solidFill>
              <a:srgbClr val="CBB6D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7"/>
          <p:cNvSpPr/>
          <p:nvPr/>
        </p:nvSpPr>
        <p:spPr>
          <a:xfrm>
            <a:off x="4956048" y="2971800"/>
            <a:ext cx="18288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A2EB0"/>
              </a:buClr>
              <a:buSzPts val="1150"/>
              <a:buFont typeface="Times New Roman"/>
              <a:buNone/>
            </a:pPr>
            <a:r>
              <a:rPr lang="en-US" sz="1150" b="1" i="0" u="none" strike="noStrike" cap="none">
                <a:solidFill>
                  <a:srgbClr val="6A2EB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Why our experiment matters</a:t>
            </a:r>
            <a:endParaRPr sz="115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4956048" y="3246120"/>
            <a:ext cx="31546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5964"/>
              </a:buClr>
              <a:buSzPts val="939"/>
              <a:buFont typeface="Times New Roman"/>
              <a:buNone/>
            </a:pPr>
            <a:r>
              <a:rPr lang="en-US" sz="940" b="0" i="0" u="none" strike="noStrike" cap="none">
                <a:solidFill>
                  <a:srgbClr val="4E5964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Layer-wise sensitivity analysis tells us where low-bit quantization is safe and where higher precision must be preserved.</a:t>
            </a:r>
            <a:endParaRPr sz="94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685800" y="4160520"/>
            <a:ext cx="786384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00" tIns="500" rIns="500" bIns="5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1130"/>
              <a:buFont typeface="Times New Roman"/>
              <a:buNone/>
            </a:pPr>
            <a:r>
              <a:rPr lang="en-US" sz="1130" b="1" i="0" u="none" strike="noStrike" cap="none" dirty="0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FPGA acceleration is not just “deploy the model.” It is a co-design problem across model architecture, numerical precision, memory hierarchy, and pipeline scheduling.</a:t>
            </a:r>
            <a:endParaRPr sz="113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8577072" y="4617720"/>
            <a:ext cx="228600" cy="14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1E2F55"/>
              </a:buClr>
              <a:buSzPts val="700"/>
              <a:buFont typeface="Times New Roman"/>
              <a:buNone/>
            </a:pPr>
            <a:r>
              <a:rPr lang="en-US" sz="700" b="0" i="0" u="none" strike="noStrike" cap="none">
                <a:solidFill>
                  <a:srgbClr val="1E2F55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7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33" name="Google Shape;202;p7">
            <a:extLst>
              <a:ext uri="{FF2B5EF4-FFF2-40B4-BE49-F238E27FC236}">
                <a16:creationId xmlns:a16="http://schemas.microsoft.com/office/drawing/2014/main" id="{47CDCA19-8E6D-4776-80EE-7A244AACF37C}"/>
              </a:ext>
            </a:extLst>
          </p:cNvPr>
          <p:cNvCxnSpPr/>
          <p:nvPr/>
        </p:nvCxnSpPr>
        <p:spPr>
          <a:xfrm>
            <a:off x="7251192" y="1673352"/>
            <a:ext cx="301752" cy="0"/>
          </a:xfrm>
          <a:prstGeom prst="straightConnector1">
            <a:avLst/>
          </a:prstGeom>
          <a:noFill/>
          <a:ln w="12700" cap="flat" cmpd="sng">
            <a:solidFill>
              <a:srgbClr val="AEB7C1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Background: Why Quantization Is Central to FPGA Vision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FPGA accelerators benefit from integer arithmetic and reduced memory traffic</a:t>
            </a:r>
            <a:endParaRPr lang="en-US" sz="780" dirty="0"/>
          </a:p>
        </p:txBody>
      </p:sp>
      <p:sp>
        <p:nvSpPr>
          <p:cNvPr id="5" name="Text 2"/>
          <p:cNvSpPr/>
          <p:nvPr/>
        </p:nvSpPr>
        <p:spPr>
          <a:xfrm>
            <a:off x="502920" y="914400"/>
            <a:ext cx="809244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FP32 inference is convenient for training, but it is expensive for edge hardware. FPGA implementations often prefer fixed-point arithmetic because it can reduce DSP usage, BRAM pressure, bandwidth, and dynamic power.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94360" y="1874520"/>
            <a:ext cx="3520440" cy="658368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9DEE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4088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bit-width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148840" y="1947672"/>
            <a:ext cx="1783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Smaller weight and activation storage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26280" y="1874520"/>
            <a:ext cx="3520440" cy="658368"/>
          </a:xfrm>
          <a:prstGeom prst="rect">
            <a:avLst/>
          </a:prstGeom>
          <a:solidFill>
            <a:srgbClr val="F4F7FB">
              <a:alpha val="97000"/>
            </a:srgbClr>
          </a:solidFill>
          <a:ln w="7620">
            <a:solidFill>
              <a:srgbClr val="D9DEE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636008" y="1947672"/>
            <a:ext cx="1371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Integer arithmetic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080760" y="1947672"/>
            <a:ext cx="1783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More efficient DSP/LUT mapping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94360" y="2834640"/>
            <a:ext cx="3520440" cy="658368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9DEE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Reduced bandwidth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48840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data movement energy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526280" y="2834640"/>
            <a:ext cx="3520440" cy="658368"/>
          </a:xfrm>
          <a:prstGeom prst="rect">
            <a:avLst/>
          </a:prstGeom>
          <a:solidFill>
            <a:srgbClr val="F4F7FB">
              <a:alpha val="97000"/>
            </a:srgbClr>
          </a:solidFill>
          <a:ln w="7620">
            <a:solidFill>
              <a:srgbClr val="D9DEE4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636008" y="2907792"/>
            <a:ext cx="13716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Mixed precision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080760" y="2907792"/>
            <a:ext cx="178308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Protect sensitive layers while shrinking tolerant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94360" y="4133088"/>
            <a:ext cx="777240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gap: many reports compare FP32 vs INT8 globally. This project asks where accuracy actually breaks inside YOLO.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YOLOv8n Functional Grouping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notebook partitions convolutional layers into hardware-relevant regions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1572768" y="2011680"/>
            <a:ext cx="210312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headEnd type="none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2926080" y="2011680"/>
            <a:ext cx="256032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headEnd type="none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325112" y="2011680"/>
            <a:ext cx="246888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headEnd type="non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5715000" y="2011680"/>
            <a:ext cx="256032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headEnd type="none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7114032" y="2011680"/>
            <a:ext cx="265176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headEnd type="none"/>
            <a:tailEnd type="triangle"/>
          </a:ln>
        </p:spPr>
      </p:sp>
      <p:sp>
        <p:nvSpPr>
          <p:cNvPr id="10" name="Shape 7"/>
          <p:cNvSpPr/>
          <p:nvPr/>
        </p:nvSpPr>
        <p:spPr>
          <a:xfrm>
            <a:off x="566928" y="1737360"/>
            <a:ext cx="96012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8890">
            <a:solidFill>
              <a:srgbClr val="C2C9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4360" y="1810512"/>
            <a:ext cx="90525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Image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1828800" y="167335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F6DAD5"/>
          </a:solidFill>
          <a:ln w="8890">
            <a:solidFill>
              <a:srgbClr val="C2C9D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56232" y="1746504"/>
            <a:ext cx="996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Early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27832" y="167335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E5F0FA"/>
          </a:solidFill>
          <a:ln w="8890">
            <a:solidFill>
              <a:srgbClr val="C2C9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55264" y="1746504"/>
            <a:ext cx="996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Deep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617720" y="167335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DDEEDC"/>
          </a:solidFill>
          <a:ln w="8890">
            <a:solidFill>
              <a:srgbClr val="C2C9D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45152" y="1746504"/>
            <a:ext cx="996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Neck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16752" y="1673352"/>
            <a:ext cx="1051560" cy="658368"/>
          </a:xfrm>
          <a:prstGeom prst="roundRect">
            <a:avLst>
              <a:gd name="adj" fmla="val 9722"/>
            </a:avLst>
          </a:prstGeom>
          <a:solidFill>
            <a:srgbClr val="EDE5F5"/>
          </a:solidFill>
          <a:ln w="8890">
            <a:solidFill>
              <a:srgbClr val="C2C9D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44184" y="1746504"/>
            <a:ext cx="996696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424928" y="1737360"/>
            <a:ext cx="1097280" cy="548640"/>
          </a:xfrm>
          <a:prstGeom prst="roundRect">
            <a:avLst>
              <a:gd name="adj" fmla="val 11667"/>
            </a:avLst>
          </a:prstGeom>
          <a:solidFill>
            <a:srgbClr val="FFFFFF"/>
          </a:solidFill>
          <a:ln w="8890">
            <a:solidFill>
              <a:srgbClr val="C2C9D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1810512"/>
            <a:ext cx="1042416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Detection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1097280" y="2788920"/>
            <a:ext cx="2011680" cy="21640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124712" y="2807208"/>
            <a:ext cx="195681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</a:t>
            </a:r>
            <a:endParaRPr lang="en-US" sz="1400" dirty="0"/>
          </a:p>
        </p:txBody>
      </p:sp>
      <p:sp>
        <p:nvSpPr>
          <p:cNvPr id="24" name="Shape 21"/>
          <p:cNvSpPr/>
          <p:nvPr/>
        </p:nvSpPr>
        <p:spPr>
          <a:xfrm>
            <a:off x="3108960" y="2788920"/>
            <a:ext cx="1371600" cy="21640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136392" y="2807208"/>
            <a:ext cx="13167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 layers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4480560" y="2788920"/>
            <a:ext cx="1828800" cy="21640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07992" y="2807208"/>
            <a:ext cx="17739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6309360" y="2788920"/>
            <a:ext cx="1737360" cy="21640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6336792" y="2807208"/>
            <a:ext cx="168249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 share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1097280" y="3005328"/>
            <a:ext cx="201168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124712" y="3023616"/>
            <a:ext cx="195681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backbone_early</a:t>
            </a:r>
            <a:endParaRPr lang="en-US" sz="1400" dirty="0"/>
          </a:p>
        </p:txBody>
      </p:sp>
      <p:sp>
        <p:nvSpPr>
          <p:cNvPr id="32" name="Shape 29"/>
          <p:cNvSpPr/>
          <p:nvPr/>
        </p:nvSpPr>
        <p:spPr>
          <a:xfrm>
            <a:off x="3108960" y="3005328"/>
            <a:ext cx="137160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136392" y="3023616"/>
            <a:ext cx="13167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1400" dirty="0"/>
          </a:p>
        </p:txBody>
      </p:sp>
      <p:sp>
        <p:nvSpPr>
          <p:cNvPr id="34" name="Shape 31"/>
          <p:cNvSpPr/>
          <p:nvPr/>
        </p:nvSpPr>
        <p:spPr>
          <a:xfrm>
            <a:off x="4480560" y="3005328"/>
            <a:ext cx="182880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4507992" y="3023616"/>
            <a:ext cx="17739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30,848</a:t>
            </a:r>
            <a:endParaRPr lang="en-US" sz="1400" dirty="0"/>
          </a:p>
        </p:txBody>
      </p:sp>
      <p:sp>
        <p:nvSpPr>
          <p:cNvPr id="36" name="Shape 33"/>
          <p:cNvSpPr/>
          <p:nvPr/>
        </p:nvSpPr>
        <p:spPr>
          <a:xfrm>
            <a:off x="6309360" y="3005328"/>
            <a:ext cx="173736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36792" y="3023616"/>
            <a:ext cx="168249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0.98%</a:t>
            </a:r>
            <a:endParaRPr lang="en-US" sz="1400" dirty="0"/>
          </a:p>
        </p:txBody>
      </p:sp>
      <p:sp>
        <p:nvSpPr>
          <p:cNvPr id="38" name="Shape 35"/>
          <p:cNvSpPr/>
          <p:nvPr/>
        </p:nvSpPr>
        <p:spPr>
          <a:xfrm>
            <a:off x="1097280" y="3221736"/>
            <a:ext cx="201168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1124712" y="3240024"/>
            <a:ext cx="195681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backbone_deep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3108960" y="3221736"/>
            <a:ext cx="137160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136392" y="3240024"/>
            <a:ext cx="13167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1400" dirty="0"/>
          </a:p>
        </p:txBody>
      </p:sp>
      <p:sp>
        <p:nvSpPr>
          <p:cNvPr id="42" name="Shape 39"/>
          <p:cNvSpPr/>
          <p:nvPr/>
        </p:nvSpPr>
        <p:spPr>
          <a:xfrm>
            <a:off x="4480560" y="3221736"/>
            <a:ext cx="182880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507992" y="3240024"/>
            <a:ext cx="17739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1,239,296</a:t>
            </a:r>
            <a:endParaRPr lang="en-US" sz="1400" dirty="0"/>
          </a:p>
        </p:txBody>
      </p:sp>
      <p:sp>
        <p:nvSpPr>
          <p:cNvPr id="44" name="Shape 41"/>
          <p:cNvSpPr/>
          <p:nvPr/>
        </p:nvSpPr>
        <p:spPr>
          <a:xfrm>
            <a:off x="6309360" y="3221736"/>
            <a:ext cx="173736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6336792" y="3240024"/>
            <a:ext cx="168249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39.32%</a:t>
            </a:r>
            <a:endParaRPr lang="en-US" sz="1400" dirty="0"/>
          </a:p>
        </p:txBody>
      </p:sp>
      <p:sp>
        <p:nvSpPr>
          <p:cNvPr id="46" name="Shape 43"/>
          <p:cNvSpPr/>
          <p:nvPr/>
        </p:nvSpPr>
        <p:spPr>
          <a:xfrm>
            <a:off x="1097280" y="3438144"/>
            <a:ext cx="201168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1124712" y="3456432"/>
            <a:ext cx="195681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neck</a:t>
            </a:r>
            <a:endParaRPr lang="en-US" sz="1400" dirty="0"/>
          </a:p>
        </p:txBody>
      </p:sp>
      <p:sp>
        <p:nvSpPr>
          <p:cNvPr id="48" name="Shape 45"/>
          <p:cNvSpPr/>
          <p:nvPr/>
        </p:nvSpPr>
        <p:spPr>
          <a:xfrm>
            <a:off x="3108960" y="3438144"/>
            <a:ext cx="137160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136392" y="3456432"/>
            <a:ext cx="13167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1400" dirty="0"/>
          </a:p>
        </p:txBody>
      </p:sp>
      <p:sp>
        <p:nvSpPr>
          <p:cNvPr id="50" name="Shape 47"/>
          <p:cNvSpPr/>
          <p:nvPr/>
        </p:nvSpPr>
        <p:spPr>
          <a:xfrm>
            <a:off x="4480560" y="3438144"/>
            <a:ext cx="182880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4507992" y="3456432"/>
            <a:ext cx="17739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984,960</a:t>
            </a:r>
            <a:endParaRPr lang="en-US" sz="1400" dirty="0"/>
          </a:p>
        </p:txBody>
      </p:sp>
      <p:sp>
        <p:nvSpPr>
          <p:cNvPr id="52" name="Shape 49"/>
          <p:cNvSpPr/>
          <p:nvPr/>
        </p:nvSpPr>
        <p:spPr>
          <a:xfrm>
            <a:off x="6309360" y="3438144"/>
            <a:ext cx="173736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336792" y="3456432"/>
            <a:ext cx="168249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31.25%</a:t>
            </a:r>
            <a:endParaRPr lang="en-US" sz="1400" dirty="0"/>
          </a:p>
        </p:txBody>
      </p:sp>
      <p:sp>
        <p:nvSpPr>
          <p:cNvPr id="54" name="Shape 51"/>
          <p:cNvSpPr/>
          <p:nvPr/>
        </p:nvSpPr>
        <p:spPr>
          <a:xfrm>
            <a:off x="1097280" y="3654552"/>
            <a:ext cx="201168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1124712" y="3672840"/>
            <a:ext cx="195681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3108960" y="3654552"/>
            <a:ext cx="137160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136392" y="3672840"/>
            <a:ext cx="13167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1400" dirty="0"/>
          </a:p>
        </p:txBody>
      </p:sp>
      <p:sp>
        <p:nvSpPr>
          <p:cNvPr id="58" name="Shape 55"/>
          <p:cNvSpPr/>
          <p:nvPr/>
        </p:nvSpPr>
        <p:spPr>
          <a:xfrm>
            <a:off x="4480560" y="3654552"/>
            <a:ext cx="182880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507992" y="3672840"/>
            <a:ext cx="17739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896,800</a:t>
            </a:r>
            <a:endParaRPr lang="en-US" sz="1400" dirty="0"/>
          </a:p>
        </p:txBody>
      </p:sp>
      <p:sp>
        <p:nvSpPr>
          <p:cNvPr id="60" name="Shape 57"/>
          <p:cNvSpPr/>
          <p:nvPr/>
        </p:nvSpPr>
        <p:spPr>
          <a:xfrm>
            <a:off x="6309360" y="3654552"/>
            <a:ext cx="1737360" cy="21640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336792" y="3672840"/>
            <a:ext cx="168249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28.45%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097280" y="3870960"/>
            <a:ext cx="201168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1124712" y="3889248"/>
            <a:ext cx="195681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</a:t>
            </a:r>
            <a:endParaRPr lang="en-US" sz="1400" dirty="0"/>
          </a:p>
        </p:txBody>
      </p:sp>
      <p:sp>
        <p:nvSpPr>
          <p:cNvPr id="64" name="Shape 61"/>
          <p:cNvSpPr/>
          <p:nvPr/>
        </p:nvSpPr>
        <p:spPr>
          <a:xfrm>
            <a:off x="3108960" y="3870960"/>
            <a:ext cx="137160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5" name="Text 62"/>
          <p:cNvSpPr/>
          <p:nvPr/>
        </p:nvSpPr>
        <p:spPr>
          <a:xfrm>
            <a:off x="3136392" y="3889248"/>
            <a:ext cx="13167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64</a:t>
            </a:r>
            <a:endParaRPr lang="en-US" sz="1400" dirty="0"/>
          </a:p>
        </p:txBody>
      </p:sp>
      <p:sp>
        <p:nvSpPr>
          <p:cNvPr id="66" name="Shape 63"/>
          <p:cNvSpPr/>
          <p:nvPr/>
        </p:nvSpPr>
        <p:spPr>
          <a:xfrm>
            <a:off x="4480560" y="3870960"/>
            <a:ext cx="182880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7992" y="3889248"/>
            <a:ext cx="177393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3,151,904</a:t>
            </a:r>
            <a:endParaRPr lang="en-US" sz="1400" dirty="0"/>
          </a:p>
        </p:txBody>
      </p:sp>
      <p:sp>
        <p:nvSpPr>
          <p:cNvPr id="68" name="Shape 65"/>
          <p:cNvSpPr/>
          <p:nvPr/>
        </p:nvSpPr>
        <p:spPr>
          <a:xfrm>
            <a:off x="6309360" y="3870960"/>
            <a:ext cx="1737360" cy="21640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9" name="Text 66"/>
          <p:cNvSpPr/>
          <p:nvPr/>
        </p:nvSpPr>
        <p:spPr>
          <a:xfrm>
            <a:off x="6336792" y="3889248"/>
            <a:ext cx="1682496" cy="179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100%</a:t>
            </a:r>
            <a:endParaRPr lang="en-US" sz="1400" dirty="0"/>
          </a:p>
        </p:txBody>
      </p:sp>
      <p:sp>
        <p:nvSpPr>
          <p:cNvPr id="70" name="Text 67"/>
          <p:cNvSpPr/>
          <p:nvPr/>
        </p:nvSpPr>
        <p:spPr>
          <a:xfrm>
            <a:off x="658368" y="4187952"/>
            <a:ext cx="795528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 meaning: each group maps to a different hardware region, so sensitivity can guide bit-width allocation before RTL/HLS implementation.</a:t>
            </a:r>
            <a:endParaRPr lang="en-US" sz="1400" dirty="0"/>
          </a:p>
        </p:txBody>
      </p:sp>
      <p:sp>
        <p:nvSpPr>
          <p:cNvPr id="72" name="Text 69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Quantization Design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experiment simulates low-bit arithmetic while remaining executable in Colab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21792" y="969263"/>
            <a:ext cx="3566160" cy="2838462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5DAE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04672" y="1115568"/>
            <a:ext cx="32004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affine quantization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04672" y="1508760"/>
            <a:ext cx="310896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endParaRPr lang="en-US" sz="1160" dirty="0">
              <a:solidFill>
                <a:srgbClr val="FF0000"/>
              </a:solidFill>
            </a:endParaRPr>
          </a:p>
        </p:txBody>
      </p:sp>
      <p:sp>
        <p:nvSpPr>
          <p:cNvPr id="8" name="Shape 5"/>
          <p:cNvSpPr/>
          <p:nvPr/>
        </p:nvSpPr>
        <p:spPr>
          <a:xfrm>
            <a:off x="4645152" y="969264"/>
            <a:ext cx="3886200" cy="1920240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5DAE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828032" y="1115568"/>
            <a:ext cx="342900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logic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4828032" y="1481328"/>
            <a:ext cx="347472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12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Selected group convolution weights are quantized.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Activation tensors are quantized with forward hooks.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No retraining is used; this is post-training sensitivity testing.</a:t>
            </a:r>
            <a:endParaRPr lang="en-US" sz="1120" dirty="0"/>
          </a:p>
          <a:p>
            <a:pPr marL="0" indent="0" algn="l">
              <a:buNone/>
            </a:pPr>
            <a:r>
              <a:rPr lang="en-US" sz="112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The method estimates accuracy impact before HLS/RTL work.</a:t>
            </a:r>
            <a:endParaRPr lang="en-US" sz="1120" dirty="0"/>
          </a:p>
        </p:txBody>
      </p:sp>
      <p:sp>
        <p:nvSpPr>
          <p:cNvPr id="13" name="Text 10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endParaRPr lang="en-US" sz="70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0377EC5F-F842-4BA2-BBD3-016916173E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17" y="1447140"/>
            <a:ext cx="2958107" cy="2203636"/>
          </a:xfrm>
          <a:prstGeom prst="rect">
            <a:avLst/>
          </a:prstGeom>
        </p:spPr>
      </p:pic>
      <p:sp>
        <p:nvSpPr>
          <p:cNvPr id="21" name="Shape 2">
            <a:extLst>
              <a:ext uri="{FF2B5EF4-FFF2-40B4-BE49-F238E27FC236}">
                <a16:creationId xmlns:a16="http://schemas.microsoft.com/office/drawing/2014/main" id="{5B828FCA-9113-4CDF-97B2-ABCE73B214EE}"/>
              </a:ext>
            </a:extLst>
          </p:cNvPr>
          <p:cNvSpPr/>
          <p:nvPr/>
        </p:nvSpPr>
        <p:spPr>
          <a:xfrm>
            <a:off x="4645152" y="3081528"/>
            <a:ext cx="3913632" cy="1920240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5DAE0"/>
            </a:solidFill>
            <a:prstDash val="solid"/>
          </a:ln>
        </p:spPr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00CA30AC-E38E-4E7E-82F2-DBE2D10C5F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48668" y="3200400"/>
            <a:ext cx="2926477" cy="17004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Description</a:t>
            </a:r>
          </a:p>
        </p:txBody>
      </p:sp>
      <p:sp>
        <p:nvSpPr>
          <p:cNvPr id="4" name="Text 1"/>
          <p:cNvSpPr/>
          <p:nvPr/>
        </p:nvSpPr>
        <p:spPr>
          <a:xfrm>
            <a:off x="292608" y="4608576"/>
            <a:ext cx="4023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50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Nano/Micro Engineering Analysis and Fabrication Lab</a:t>
            </a:r>
            <a:endParaRPr lang="en-US" sz="550" dirty="0"/>
          </a:p>
        </p:txBody>
      </p:sp>
      <p:sp>
        <p:nvSpPr>
          <p:cNvPr id="5" name="Text 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Objective: From Benchmark to Research Question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Layer-level quantization sensitivity for FPGA-oriented YOLO deployment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475488" y="960120"/>
            <a:ext cx="8183880" cy="1046988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0C9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13232" y="1337310"/>
            <a:ext cx="7818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Paper: An FPGA-Based YOLOv5 Accelerator for Real-Time Industrial Vision Applications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444752"/>
            <a:ext cx="7818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endParaRPr lang="en-US" sz="1400" dirty="0"/>
          </a:p>
        </p:txBody>
      </p:sp>
      <p:pic>
        <p:nvPicPr>
          <p:cNvPr id="22" name="圖片 21">
            <a:extLst>
              <a:ext uri="{FF2B5EF4-FFF2-40B4-BE49-F238E27FC236}">
                <a16:creationId xmlns:a16="http://schemas.microsoft.com/office/drawing/2014/main" id="{6AB6C3B8-3C76-4656-ACB3-A8CF9D40DA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37787" y="2431110"/>
            <a:ext cx="6569009" cy="85351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Objective: From Benchmark to Research Question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Layer-level quantization sensitivity for FPGA-oriented YOLO deployment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475488" y="960120"/>
            <a:ext cx="8183880" cy="1046988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0C96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" y="1115568"/>
            <a:ext cx="7818120" cy="29260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question: Which functional parts of YOLO are most sensitive to low-bit quantization?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58368" y="1444752"/>
            <a:ext cx="78181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Instead of only reporting that “INT8 is smaller,” this work measures accuracy degradation when different YOLO groups are selectively quantized.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85800" y="2240280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E5F0FA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13232" y="2267712"/>
            <a:ext cx="18653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varied?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880360" y="2258568"/>
            <a:ext cx="5394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Quantized group and bit-width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85800" y="2715768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EDE5F5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13232" y="2743200"/>
            <a:ext cx="18653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measured?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880360" y="2734056"/>
            <a:ext cx="5394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mAP50-95, mAP50, Precision, Recall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85800" y="3191256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E5F0FA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13232" y="3218688"/>
            <a:ext cx="18653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is inferred?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880360" y="3209544"/>
            <a:ext cx="5394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 sensitivity and mixed-precision FPGA policy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685800" y="3666744"/>
            <a:ext cx="1920240" cy="320040"/>
          </a:xfrm>
          <a:prstGeom prst="roundRect">
            <a:avLst>
              <a:gd name="adj" fmla="val 22857"/>
            </a:avLst>
          </a:prstGeom>
          <a:solidFill>
            <a:srgbClr val="EDE5F5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13232" y="3694176"/>
            <a:ext cx="186537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it matters?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2880360" y="3685032"/>
            <a:ext cx="53949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Bit-width should be assigned where accuracy is least sensitive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41442634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 (Methodology)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Notebook Experiment Pipeline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reproducible Python workflow using YOLOv8n and COCO128 validation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1417320" y="2359152"/>
            <a:ext cx="612648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tailEnd type="triangle"/>
          </a:ln>
        </p:spPr>
      </p:sp>
      <p:sp>
        <p:nvSpPr>
          <p:cNvPr id="6" name="Shape 3"/>
          <p:cNvSpPr/>
          <p:nvPr/>
        </p:nvSpPr>
        <p:spPr>
          <a:xfrm>
            <a:off x="3108960" y="2359152"/>
            <a:ext cx="612648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tailEnd type="triangle"/>
          </a:ln>
        </p:spPr>
      </p:sp>
      <p:sp>
        <p:nvSpPr>
          <p:cNvPr id="7" name="Shape 4"/>
          <p:cNvSpPr/>
          <p:nvPr/>
        </p:nvSpPr>
        <p:spPr>
          <a:xfrm>
            <a:off x="4800600" y="2359152"/>
            <a:ext cx="612648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492240" y="2359152"/>
            <a:ext cx="612648" cy="0"/>
          </a:xfrm>
          <a:prstGeom prst="line">
            <a:avLst/>
          </a:prstGeom>
          <a:noFill/>
          <a:ln w="15240">
            <a:solidFill>
              <a:srgbClr val="1E2F55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502920" y="1600200"/>
            <a:ext cx="1234440" cy="1234440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C9D1DA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950976" y="1673352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0976" y="1709928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76072" y="1965960"/>
            <a:ext cx="10881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Load model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76072" y="2267712"/>
            <a:ext cx="10881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YOLOv8n pretrained weights</a:t>
            </a:r>
            <a:endParaRPr lang="en-US" sz="750" dirty="0"/>
          </a:p>
        </p:txBody>
      </p:sp>
      <p:sp>
        <p:nvSpPr>
          <p:cNvPr id="14" name="Shape 11"/>
          <p:cNvSpPr/>
          <p:nvPr/>
        </p:nvSpPr>
        <p:spPr>
          <a:xfrm>
            <a:off x="2194560" y="1600200"/>
            <a:ext cx="1234440" cy="1234440"/>
          </a:xfrm>
          <a:prstGeom prst="rect">
            <a:avLst/>
          </a:prstGeom>
          <a:solidFill>
            <a:srgbClr val="F4F7FB">
              <a:alpha val="97000"/>
            </a:srgbClr>
          </a:solidFill>
          <a:ln w="7620">
            <a:solidFill>
              <a:srgbClr val="C9D1D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642616" y="1673352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42616" y="1709928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750" dirty="0"/>
          </a:p>
        </p:txBody>
      </p:sp>
      <p:sp>
        <p:nvSpPr>
          <p:cNvPr id="17" name="Text 14"/>
          <p:cNvSpPr/>
          <p:nvPr/>
        </p:nvSpPr>
        <p:spPr>
          <a:xfrm>
            <a:off x="2267712" y="1965960"/>
            <a:ext cx="10881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Build groups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2267712" y="2267712"/>
            <a:ext cx="10881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Index convolutional modules into early/deep/neck/head</a:t>
            </a:r>
            <a:endParaRPr lang="en-US" sz="750" dirty="0"/>
          </a:p>
        </p:txBody>
      </p:sp>
      <p:sp>
        <p:nvSpPr>
          <p:cNvPr id="19" name="Shape 16"/>
          <p:cNvSpPr/>
          <p:nvPr/>
        </p:nvSpPr>
        <p:spPr>
          <a:xfrm>
            <a:off x="3886200" y="1600200"/>
            <a:ext cx="1234440" cy="1234440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C9D1D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334256" y="1673352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334256" y="1709928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959352" y="1965960"/>
            <a:ext cx="10881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Apply quantization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3982212" y="2420875"/>
            <a:ext cx="10881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+ activation quantization at 8/6/4-bit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5577840" y="1600200"/>
            <a:ext cx="1234440" cy="1234440"/>
          </a:xfrm>
          <a:prstGeom prst="rect">
            <a:avLst/>
          </a:prstGeom>
          <a:solidFill>
            <a:srgbClr val="F4F7FB">
              <a:alpha val="97000"/>
            </a:srgbClr>
          </a:solidFill>
          <a:ln w="7620">
            <a:solidFill>
              <a:srgbClr val="C9D1D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025896" y="1673352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025896" y="1709928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5650992" y="1965960"/>
            <a:ext cx="10881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Evaluate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650992" y="2267712"/>
            <a:ext cx="10881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mAP50-95, mAP50, Precision, Recall</a:t>
            </a:r>
            <a:endParaRPr lang="en-US" sz="750" dirty="0"/>
          </a:p>
        </p:txBody>
      </p:sp>
      <p:sp>
        <p:nvSpPr>
          <p:cNvPr id="29" name="Shape 26"/>
          <p:cNvSpPr/>
          <p:nvPr/>
        </p:nvSpPr>
        <p:spPr>
          <a:xfrm>
            <a:off x="7269480" y="1600200"/>
            <a:ext cx="1234440" cy="1234440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C9D1DA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17536" y="1673352"/>
            <a:ext cx="292608" cy="292608"/>
          </a:xfrm>
          <a:prstGeom prst="ellipse">
            <a:avLst/>
          </a:prstGeom>
          <a:solidFill>
            <a:srgbClr val="6A2EB0"/>
          </a:solidFill>
          <a:ln w="12700">
            <a:solidFill>
              <a:srgbClr val="6A2EB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717536" y="1709928"/>
            <a:ext cx="2926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endParaRPr lang="en-US" sz="750" dirty="0"/>
          </a:p>
        </p:txBody>
      </p:sp>
      <p:sp>
        <p:nvSpPr>
          <p:cNvPr id="32" name="Text 29"/>
          <p:cNvSpPr/>
          <p:nvPr/>
        </p:nvSpPr>
        <p:spPr>
          <a:xfrm>
            <a:off x="7342632" y="1965960"/>
            <a:ext cx="1088136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</a:t>
            </a:r>
            <a:endParaRPr lang="en-US" sz="1400" dirty="0"/>
          </a:p>
        </p:txBody>
      </p:sp>
      <p:sp>
        <p:nvSpPr>
          <p:cNvPr id="33" name="Text 30"/>
          <p:cNvSpPr/>
          <p:nvPr/>
        </p:nvSpPr>
        <p:spPr>
          <a:xfrm>
            <a:off x="7342632" y="2267712"/>
            <a:ext cx="1088136" cy="457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75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Sensitivity ranking and FPGA cost proxy</a:t>
            </a:r>
            <a:endParaRPr lang="en-US" sz="750" dirty="0"/>
          </a:p>
        </p:txBody>
      </p:sp>
      <p:sp>
        <p:nvSpPr>
          <p:cNvPr id="34" name="Shape 31"/>
          <p:cNvSpPr/>
          <p:nvPr/>
        </p:nvSpPr>
        <p:spPr>
          <a:xfrm>
            <a:off x="658368" y="3429000"/>
            <a:ext cx="7845552" cy="676656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2C968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41248" y="3584448"/>
            <a:ext cx="749808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 fontScale="92500" lnSpcReduction="20000"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Academic value: the experiment is an ablation study. It isolates each functional group and measures how much quantization error propagates to detection quality.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Evaluation Metrics and FPGA Cost Proxy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notebook links vision performance to hardware-oriented interpretation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914400" y="1005840"/>
            <a:ext cx="1463040" cy="32004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41832" y="102412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Category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377440" y="1005840"/>
            <a:ext cx="1828800" cy="32004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404872" y="102412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Metric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206240" y="1005840"/>
            <a:ext cx="4023360" cy="32004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233672" y="102412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Purpose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914400" y="1325880"/>
            <a:ext cx="146304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41832" y="134416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377440" y="1325880"/>
            <a:ext cx="182880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404872" y="134416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mAP50-95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206240" y="1325880"/>
            <a:ext cx="402336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33672" y="134416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detection quality indicator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914400" y="1645920"/>
            <a:ext cx="146304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941832" y="166420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377440" y="1645920"/>
            <a:ext cx="182880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04872" y="166420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mAP50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4206240" y="1645920"/>
            <a:ext cx="402336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233672" y="166420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Localization-tolerant detection indicator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914400" y="1965960"/>
            <a:ext cx="146304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941832" y="198424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altLang="zh-TW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</a:t>
            </a:r>
            <a:endParaRPr lang="en-US" altLang="zh-TW" sz="1200" dirty="0"/>
          </a:p>
        </p:txBody>
      </p:sp>
      <p:sp>
        <p:nvSpPr>
          <p:cNvPr id="25" name="Shape 22"/>
          <p:cNvSpPr/>
          <p:nvPr/>
        </p:nvSpPr>
        <p:spPr>
          <a:xfrm>
            <a:off x="2377440" y="1965960"/>
            <a:ext cx="182880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404872" y="198424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 / Recall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4233672" y="198424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False-positive / false-negative tendency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914400" y="2286000"/>
            <a:ext cx="146304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941832" y="230428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Sensitivity</a:t>
            </a:r>
            <a:endParaRPr lang="en-US" sz="1200" dirty="0"/>
          </a:p>
        </p:txBody>
      </p:sp>
      <p:sp>
        <p:nvSpPr>
          <p:cNvPr id="31" name="Shape 28"/>
          <p:cNvSpPr/>
          <p:nvPr/>
        </p:nvSpPr>
        <p:spPr>
          <a:xfrm>
            <a:off x="2377440" y="2286000"/>
            <a:ext cx="182880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404872" y="230428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 drop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206240" y="2286000"/>
            <a:ext cx="402336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233672" y="230428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Damage caused by quantization</a:t>
            </a:r>
            <a:endParaRPr lang="en-US" sz="1200" dirty="0"/>
          </a:p>
        </p:txBody>
      </p:sp>
      <p:sp>
        <p:nvSpPr>
          <p:cNvPr id="35" name="Shape 32"/>
          <p:cNvSpPr/>
          <p:nvPr/>
        </p:nvSpPr>
        <p:spPr>
          <a:xfrm>
            <a:off x="914400" y="2606040"/>
            <a:ext cx="146304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941832" y="262432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FPGA proxy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2377440" y="2606040"/>
            <a:ext cx="182880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404872" y="262432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 share</a:t>
            </a:r>
            <a:endParaRPr lang="en-US" sz="1200" dirty="0"/>
          </a:p>
        </p:txBody>
      </p:sp>
      <p:sp>
        <p:nvSpPr>
          <p:cNvPr id="39" name="Shape 36"/>
          <p:cNvSpPr/>
          <p:nvPr/>
        </p:nvSpPr>
        <p:spPr>
          <a:xfrm>
            <a:off x="4206240" y="2606040"/>
            <a:ext cx="4023360" cy="32004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233672" y="262432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Estimated memory pressure of each group</a:t>
            </a:r>
            <a:endParaRPr lang="en-US" sz="1200" dirty="0"/>
          </a:p>
        </p:txBody>
      </p:sp>
      <p:sp>
        <p:nvSpPr>
          <p:cNvPr id="41" name="Shape 38"/>
          <p:cNvSpPr/>
          <p:nvPr/>
        </p:nvSpPr>
        <p:spPr>
          <a:xfrm>
            <a:off x="914400" y="2926080"/>
            <a:ext cx="146304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41832" y="2944368"/>
            <a:ext cx="140817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FPGA proxy</a:t>
            </a:r>
            <a:endParaRPr lang="en-US" sz="1200" dirty="0"/>
          </a:p>
        </p:txBody>
      </p:sp>
      <p:sp>
        <p:nvSpPr>
          <p:cNvPr id="43" name="Shape 40"/>
          <p:cNvSpPr/>
          <p:nvPr/>
        </p:nvSpPr>
        <p:spPr>
          <a:xfrm>
            <a:off x="2377440" y="2926080"/>
            <a:ext cx="182880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2404872" y="2944368"/>
            <a:ext cx="177393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Weight memory MB</a:t>
            </a:r>
            <a:endParaRPr lang="en-US" sz="1200" dirty="0"/>
          </a:p>
        </p:txBody>
      </p:sp>
      <p:sp>
        <p:nvSpPr>
          <p:cNvPr id="45" name="Shape 42"/>
          <p:cNvSpPr/>
          <p:nvPr/>
        </p:nvSpPr>
        <p:spPr>
          <a:xfrm>
            <a:off x="4206240" y="2926080"/>
            <a:ext cx="4023360" cy="32004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233672" y="2944368"/>
            <a:ext cx="3968496" cy="2834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Theoretical storage after low-bit quantization</a:t>
            </a:r>
            <a:endParaRPr lang="en-US" sz="1200" dirty="0"/>
          </a:p>
        </p:txBody>
      </p:sp>
      <p:sp>
        <p:nvSpPr>
          <p:cNvPr id="47" name="Shape 44"/>
          <p:cNvSpPr/>
          <p:nvPr/>
        </p:nvSpPr>
        <p:spPr>
          <a:xfrm>
            <a:off x="749808" y="3675887"/>
            <a:ext cx="7699248" cy="711867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2C968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914400" y="3822192"/>
            <a:ext cx="7360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 principle: if a group has high parameter share but low sensitivity, it is a strong candidate for lower bit-width on FPGA.</a:t>
            </a:r>
            <a:endParaRPr lang="en-US" sz="1400" dirty="0"/>
          </a:p>
        </p:txBody>
      </p:sp>
      <p:sp>
        <p:nvSpPr>
          <p:cNvPr id="50" name="Text 47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Baseline Result and Sanity Check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FP32 YOLOv8n on COCO128 validation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530352" y="1097280"/>
            <a:ext cx="1234440" cy="658368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" y="1170432"/>
            <a:ext cx="108813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0.4440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03504" y="1408176"/>
            <a:ext cx="108813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mAP50-95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Primary metric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2194560" y="1097280"/>
            <a:ext cx="1234440" cy="658368"/>
          </a:xfrm>
          <a:prstGeom prst="rect">
            <a:avLst/>
          </a:prstGeom>
          <a:solidFill>
            <a:srgbClr val="F6F8FB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67712" y="1170432"/>
            <a:ext cx="108813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0.6079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267712" y="1408176"/>
            <a:ext cx="108813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mAP50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IoU=0.50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3858768" y="1097280"/>
            <a:ext cx="1234440" cy="658368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31920" y="1170432"/>
            <a:ext cx="108813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0.6385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31920" y="1408176"/>
            <a:ext cx="108813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Precision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Box(P)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5522976" y="1097280"/>
            <a:ext cx="1234440" cy="658368"/>
          </a:xfrm>
          <a:prstGeom prst="rect">
            <a:avLst/>
          </a:prstGeom>
          <a:solidFill>
            <a:srgbClr val="F6F8FB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596128" y="1170432"/>
            <a:ext cx="108813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0.5379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596128" y="1408176"/>
            <a:ext cx="108813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Recall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Box(R)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187184" y="1097280"/>
            <a:ext cx="1234440" cy="658368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60336" y="1170432"/>
            <a:ext cx="1088136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3.15M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260336" y="1408176"/>
            <a:ext cx="1088136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Parameters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 size proxy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566928" y="2240280"/>
            <a:ext cx="8046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baseline is reasonable: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749808" y="2606040"/>
            <a:ext cx="7498080" cy="10058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COCO128 is small, so absolute mAP is not a final COCO benchmark number.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It is sufficient for a controlled ablation study because every quantization setting is evaluated on the same data.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Runtime is not the main claim; accuracy degradation and relative sensitivity are the research outputs.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Experimental Results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Group-wise Weight + Activation Quantization Results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Selected program outputs: mAP50-95 and absolute drop from FP32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548640" y="1005840"/>
            <a:ext cx="169602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6072" y="1024128"/>
            <a:ext cx="164115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244660" y="1005840"/>
            <a:ext cx="106607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72092" y="10241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mAP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310730" y="1005840"/>
            <a:ext cx="106607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338162" y="10241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drop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376800" y="1005840"/>
            <a:ext cx="106607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04232" y="10241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6-bit mAP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42870" y="1005840"/>
            <a:ext cx="106607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470302" y="10241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6-bit drop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508940" y="1005840"/>
            <a:ext cx="106607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36372" y="10241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4-bit mAP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575010" y="1005840"/>
            <a:ext cx="1066070" cy="335280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602442" y="10241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4-bit drop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8640" y="1341120"/>
            <a:ext cx="169602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6072" y="1359408"/>
            <a:ext cx="164115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backbone_early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2244660" y="134112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72092" y="135940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0.4337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310730" y="134112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38162" y="135940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0.0103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4376800" y="134112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404232" y="135940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0.2288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5442870" y="134112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470302" y="135940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0.2152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6508940" y="134112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36372" y="135940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0.0019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7575010" y="134112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7602442" y="135940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0.4422</a:t>
            </a:r>
            <a:endParaRPr lang="en-US" sz="1400" dirty="0"/>
          </a:p>
        </p:txBody>
      </p:sp>
      <p:sp>
        <p:nvSpPr>
          <p:cNvPr id="33" name="Shape 30"/>
          <p:cNvSpPr/>
          <p:nvPr/>
        </p:nvSpPr>
        <p:spPr>
          <a:xfrm>
            <a:off x="548640" y="1676400"/>
            <a:ext cx="169602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76072" y="1694688"/>
            <a:ext cx="164115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backbone_deep</a:t>
            </a:r>
            <a:endParaRPr lang="en-US" sz="1400" dirty="0"/>
          </a:p>
        </p:txBody>
      </p:sp>
      <p:sp>
        <p:nvSpPr>
          <p:cNvPr id="35" name="Shape 32"/>
          <p:cNvSpPr/>
          <p:nvPr/>
        </p:nvSpPr>
        <p:spPr>
          <a:xfrm>
            <a:off x="2244660" y="167640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2272092" y="169468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0.4457</a:t>
            </a:r>
            <a:endParaRPr lang="en-US" sz="1400" dirty="0"/>
          </a:p>
        </p:txBody>
      </p:sp>
      <p:sp>
        <p:nvSpPr>
          <p:cNvPr id="37" name="Shape 34"/>
          <p:cNvSpPr/>
          <p:nvPr/>
        </p:nvSpPr>
        <p:spPr>
          <a:xfrm>
            <a:off x="3310730" y="167640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3338162" y="169468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-0.0016</a:t>
            </a:r>
            <a:endParaRPr lang="en-US" sz="1400" dirty="0"/>
          </a:p>
        </p:txBody>
      </p:sp>
      <p:sp>
        <p:nvSpPr>
          <p:cNvPr id="39" name="Shape 36"/>
          <p:cNvSpPr/>
          <p:nvPr/>
        </p:nvSpPr>
        <p:spPr>
          <a:xfrm>
            <a:off x="4376800" y="167640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404232" y="169468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0.4107</a:t>
            </a:r>
            <a:endParaRPr lang="en-US" sz="1400" dirty="0"/>
          </a:p>
        </p:txBody>
      </p:sp>
      <p:sp>
        <p:nvSpPr>
          <p:cNvPr id="41" name="Shape 38"/>
          <p:cNvSpPr/>
          <p:nvPr/>
        </p:nvSpPr>
        <p:spPr>
          <a:xfrm>
            <a:off x="5442870" y="167640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470302" y="169468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0.0333</a:t>
            </a:r>
            <a:endParaRPr lang="en-US" sz="1400" dirty="0"/>
          </a:p>
        </p:txBody>
      </p:sp>
      <p:sp>
        <p:nvSpPr>
          <p:cNvPr id="43" name="Shape 40"/>
          <p:cNvSpPr/>
          <p:nvPr/>
        </p:nvSpPr>
        <p:spPr>
          <a:xfrm>
            <a:off x="6508940" y="167640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536372" y="169468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0.0007</a:t>
            </a:r>
            <a:endParaRPr lang="en-US" sz="1400" dirty="0"/>
          </a:p>
        </p:txBody>
      </p:sp>
      <p:sp>
        <p:nvSpPr>
          <p:cNvPr id="45" name="Shape 42"/>
          <p:cNvSpPr/>
          <p:nvPr/>
        </p:nvSpPr>
        <p:spPr>
          <a:xfrm>
            <a:off x="7575010" y="167640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602442" y="169468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0.4434</a:t>
            </a:r>
            <a:endParaRPr lang="en-US" sz="1400" dirty="0"/>
          </a:p>
        </p:txBody>
      </p:sp>
      <p:sp>
        <p:nvSpPr>
          <p:cNvPr id="47" name="Shape 44"/>
          <p:cNvSpPr/>
          <p:nvPr/>
        </p:nvSpPr>
        <p:spPr>
          <a:xfrm>
            <a:off x="548640" y="2011680"/>
            <a:ext cx="169602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76072" y="2029968"/>
            <a:ext cx="164115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neck</a:t>
            </a:r>
            <a:endParaRPr lang="en-US" sz="1400" dirty="0"/>
          </a:p>
        </p:txBody>
      </p:sp>
      <p:sp>
        <p:nvSpPr>
          <p:cNvPr id="49" name="Shape 46"/>
          <p:cNvSpPr/>
          <p:nvPr/>
        </p:nvSpPr>
        <p:spPr>
          <a:xfrm>
            <a:off x="2244660" y="201168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2272092" y="202996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0.4430</a:t>
            </a:r>
            <a:endParaRPr lang="en-US" sz="1400" dirty="0"/>
          </a:p>
        </p:txBody>
      </p:sp>
      <p:sp>
        <p:nvSpPr>
          <p:cNvPr id="51" name="Shape 48"/>
          <p:cNvSpPr/>
          <p:nvPr/>
        </p:nvSpPr>
        <p:spPr>
          <a:xfrm>
            <a:off x="3310730" y="201168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3338162" y="202996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0.0010</a:t>
            </a:r>
            <a:endParaRPr lang="en-US" sz="1400" dirty="0"/>
          </a:p>
        </p:txBody>
      </p:sp>
      <p:sp>
        <p:nvSpPr>
          <p:cNvPr id="53" name="Shape 50"/>
          <p:cNvSpPr/>
          <p:nvPr/>
        </p:nvSpPr>
        <p:spPr>
          <a:xfrm>
            <a:off x="4376800" y="201168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404232" y="202996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0.4381</a:t>
            </a:r>
            <a:endParaRPr lang="en-US" sz="1400" dirty="0"/>
          </a:p>
        </p:txBody>
      </p:sp>
      <p:sp>
        <p:nvSpPr>
          <p:cNvPr id="55" name="Shape 52"/>
          <p:cNvSpPr/>
          <p:nvPr/>
        </p:nvSpPr>
        <p:spPr>
          <a:xfrm>
            <a:off x="5442870" y="201168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5470302" y="202996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0.0059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6508940" y="201168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536372" y="202996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0.1637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7575010" y="201168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7602442" y="202996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0.2804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548640" y="2346960"/>
            <a:ext cx="169602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76072" y="2365248"/>
            <a:ext cx="164115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</a:t>
            </a:r>
            <a:endParaRPr lang="en-US" sz="1400" dirty="0"/>
          </a:p>
        </p:txBody>
      </p:sp>
      <p:sp>
        <p:nvSpPr>
          <p:cNvPr id="63" name="Shape 60"/>
          <p:cNvSpPr/>
          <p:nvPr/>
        </p:nvSpPr>
        <p:spPr>
          <a:xfrm>
            <a:off x="2244660" y="234696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2272092" y="236524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0.4412</a:t>
            </a:r>
            <a:endParaRPr lang="en-US" sz="1400" dirty="0"/>
          </a:p>
        </p:txBody>
      </p:sp>
      <p:sp>
        <p:nvSpPr>
          <p:cNvPr id="65" name="Shape 62"/>
          <p:cNvSpPr/>
          <p:nvPr/>
        </p:nvSpPr>
        <p:spPr>
          <a:xfrm>
            <a:off x="3310730" y="234696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3338162" y="236524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0.0028</a:t>
            </a:r>
            <a:endParaRPr lang="en-US" sz="1400" dirty="0"/>
          </a:p>
        </p:txBody>
      </p:sp>
      <p:sp>
        <p:nvSpPr>
          <p:cNvPr id="67" name="Shape 64"/>
          <p:cNvSpPr/>
          <p:nvPr/>
        </p:nvSpPr>
        <p:spPr>
          <a:xfrm>
            <a:off x="4376800" y="234696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4404232" y="236524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0.3777</a:t>
            </a:r>
            <a:endParaRPr lang="en-US" sz="1400" dirty="0"/>
          </a:p>
        </p:txBody>
      </p:sp>
      <p:sp>
        <p:nvSpPr>
          <p:cNvPr id="69" name="Shape 66"/>
          <p:cNvSpPr/>
          <p:nvPr/>
        </p:nvSpPr>
        <p:spPr>
          <a:xfrm>
            <a:off x="5442870" y="234696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5470302" y="236524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0.0664</a:t>
            </a:r>
            <a:endParaRPr lang="en-US" sz="1400" dirty="0"/>
          </a:p>
        </p:txBody>
      </p:sp>
      <p:sp>
        <p:nvSpPr>
          <p:cNvPr id="71" name="Shape 68"/>
          <p:cNvSpPr/>
          <p:nvPr/>
        </p:nvSpPr>
        <p:spPr>
          <a:xfrm>
            <a:off x="6508940" y="234696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6536372" y="236524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0.0857</a:t>
            </a:r>
            <a:endParaRPr lang="en-US" sz="1400" dirty="0"/>
          </a:p>
        </p:txBody>
      </p:sp>
      <p:sp>
        <p:nvSpPr>
          <p:cNvPr id="73" name="Shape 70"/>
          <p:cNvSpPr/>
          <p:nvPr/>
        </p:nvSpPr>
        <p:spPr>
          <a:xfrm>
            <a:off x="7575010" y="2346960"/>
            <a:ext cx="1066070" cy="335280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7602442" y="236524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0.3583</a:t>
            </a:r>
            <a:endParaRPr lang="en-US" sz="1400" dirty="0"/>
          </a:p>
        </p:txBody>
      </p:sp>
      <p:sp>
        <p:nvSpPr>
          <p:cNvPr id="75" name="Shape 72"/>
          <p:cNvSpPr/>
          <p:nvPr/>
        </p:nvSpPr>
        <p:spPr>
          <a:xfrm>
            <a:off x="548640" y="2682240"/>
            <a:ext cx="169602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576072" y="2700528"/>
            <a:ext cx="164115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</a:t>
            </a:r>
            <a:endParaRPr lang="en-US" sz="1400" dirty="0"/>
          </a:p>
        </p:txBody>
      </p:sp>
      <p:sp>
        <p:nvSpPr>
          <p:cNvPr id="77" name="Shape 74"/>
          <p:cNvSpPr/>
          <p:nvPr/>
        </p:nvSpPr>
        <p:spPr>
          <a:xfrm>
            <a:off x="2244660" y="268224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2272092" y="27005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0.4243</a:t>
            </a:r>
            <a:endParaRPr lang="en-US" sz="1400" dirty="0"/>
          </a:p>
        </p:txBody>
      </p:sp>
      <p:sp>
        <p:nvSpPr>
          <p:cNvPr id="79" name="Shape 76"/>
          <p:cNvSpPr/>
          <p:nvPr/>
        </p:nvSpPr>
        <p:spPr>
          <a:xfrm>
            <a:off x="3310730" y="268224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3338162" y="27005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0.0197</a:t>
            </a:r>
            <a:endParaRPr lang="en-US" sz="1400" dirty="0"/>
          </a:p>
        </p:txBody>
      </p:sp>
      <p:sp>
        <p:nvSpPr>
          <p:cNvPr id="81" name="Shape 78"/>
          <p:cNvSpPr/>
          <p:nvPr/>
        </p:nvSpPr>
        <p:spPr>
          <a:xfrm>
            <a:off x="4376800" y="268224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4404232" y="27005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0.1438</a:t>
            </a:r>
            <a:endParaRPr lang="en-US" sz="1400" dirty="0"/>
          </a:p>
        </p:txBody>
      </p:sp>
      <p:sp>
        <p:nvSpPr>
          <p:cNvPr id="83" name="Shape 80"/>
          <p:cNvSpPr/>
          <p:nvPr/>
        </p:nvSpPr>
        <p:spPr>
          <a:xfrm>
            <a:off x="5442870" y="268224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4" name="Text 81"/>
          <p:cNvSpPr/>
          <p:nvPr/>
        </p:nvSpPr>
        <p:spPr>
          <a:xfrm>
            <a:off x="5470302" y="27005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0.3002</a:t>
            </a:r>
            <a:endParaRPr lang="en-US" sz="1400" dirty="0"/>
          </a:p>
        </p:txBody>
      </p:sp>
      <p:sp>
        <p:nvSpPr>
          <p:cNvPr id="85" name="Shape 82"/>
          <p:cNvSpPr/>
          <p:nvPr/>
        </p:nvSpPr>
        <p:spPr>
          <a:xfrm>
            <a:off x="6508940" y="268224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536372" y="27005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~0</a:t>
            </a:r>
            <a:endParaRPr lang="en-US" sz="1400" dirty="0"/>
          </a:p>
        </p:txBody>
      </p:sp>
      <p:sp>
        <p:nvSpPr>
          <p:cNvPr id="87" name="Shape 84"/>
          <p:cNvSpPr/>
          <p:nvPr/>
        </p:nvSpPr>
        <p:spPr>
          <a:xfrm>
            <a:off x="7575010" y="2682240"/>
            <a:ext cx="1066070" cy="335280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7602442" y="2700528"/>
            <a:ext cx="1011206" cy="2987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0.4440</a:t>
            </a:r>
            <a:endParaRPr lang="en-US" sz="1400" dirty="0"/>
          </a:p>
        </p:txBody>
      </p:sp>
      <p:sp>
        <p:nvSpPr>
          <p:cNvPr id="89" name="Text 86"/>
          <p:cNvSpPr/>
          <p:nvPr/>
        </p:nvSpPr>
        <p:spPr>
          <a:xfrm>
            <a:off x="640080" y="3337560"/>
            <a:ext cx="1920240" cy="2468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Observations:</a:t>
            </a:r>
            <a:endParaRPr lang="en-US" sz="1300" dirty="0"/>
          </a:p>
        </p:txBody>
      </p:sp>
      <p:sp>
        <p:nvSpPr>
          <p:cNvPr id="90" name="Text 87"/>
          <p:cNvSpPr/>
          <p:nvPr/>
        </p:nvSpPr>
        <p:spPr>
          <a:xfrm>
            <a:off x="82296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8-bit quantization is mostly safe; all-group quantization only drops mAP50-95 by 0.0197.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6-bit is group-dependent: neck remains stable, but early backbone and all-group quantization degrade strongly.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4-bit uniform quantization is not directly usable without calibration or retraining.</a:t>
            </a:r>
            <a:endParaRPr lang="en-US" sz="1400" dirty="0"/>
          </a:p>
        </p:txBody>
      </p:sp>
      <p:sp>
        <p:nvSpPr>
          <p:cNvPr id="92" name="Text 89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I: mAP50-95 Drop by Group and Bit-width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Lower bars indicate better quantization tolerance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67512" y="896112"/>
            <a:ext cx="4974336" cy="2825496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6DADD"/>
            </a:solidFill>
            <a:prstDash val="solid"/>
          </a:ln>
        </p:spPr>
      </p:sp>
      <p:pic>
        <p:nvPicPr>
          <p:cNvPr id="6" name="Image 1" descr="/mnt/data/yolo_quant_assets/cell16_out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1083764"/>
            <a:ext cx="4937760" cy="24501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85800" y="3749040"/>
            <a:ext cx="4937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1: Absolute mAP50-95 drop for group-wise W+A quantization.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5897880" y="1051560"/>
            <a:ext cx="25603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reading: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5897880" y="1389888"/>
            <a:ext cx="2606040" cy="1325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At 8-bit, all groups remain close to FP32.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At 6-bit, backbone_early is much more sensitive than neck.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At 4-bit, most groups collapse, while neck retains partial detection ability.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Quantizing all layers accumulates error, especially at 6-bit and 4-bit.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833872" y="3429000"/>
            <a:ext cx="2606040" cy="890516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2C968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989320" y="3566160"/>
            <a:ext cx="23317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Finding: bit-width should not be assigned uniformly across YOLO.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II: Accuracy Curve versus Bit-width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Sensitivity becomes nonlinear below 8-bit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576072" y="896112"/>
            <a:ext cx="5248656" cy="2852928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6DADD"/>
            </a:solidFill>
            <a:prstDash val="solid"/>
          </a:ln>
        </p:spPr>
      </p:sp>
      <p:pic>
        <p:nvPicPr>
          <p:cNvPr id="6" name="Image 1" descr="/mnt/data/yolo_quant_assets/cell17_out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1029419"/>
            <a:ext cx="5212080" cy="25863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3776472"/>
            <a:ext cx="52120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2: mAP50-95 under 8-bit, 6-bit, and 4-bit quantization.</a:t>
            </a:r>
            <a:endParaRPr lang="en-US" sz="700" dirty="0"/>
          </a:p>
        </p:txBody>
      </p:sp>
      <p:sp>
        <p:nvSpPr>
          <p:cNvPr id="8" name="Text 4"/>
          <p:cNvSpPr/>
          <p:nvPr/>
        </p:nvSpPr>
        <p:spPr>
          <a:xfrm>
            <a:off x="6016752" y="1051560"/>
            <a:ext cx="260604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Interpretation: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6016752" y="1389888"/>
            <a:ext cx="2606040" cy="15727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YOLO does not degrade linearly as bit-width decreases.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8-bit is close to baseline for all groups.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6-bit exposes architectural sensitivity.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4-bit behaves like a stress test: only neck retains meaningful mAP.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This supports mixed precision instead of uniform quantization.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16</a:t>
            </a:r>
            <a:endParaRPr lang="en-US" sz="7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 III: Sensitivity Heatmap and Ranking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experiment identifies the most fragile YOLO regions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576072" y="850392"/>
            <a:ext cx="3831336" cy="2459736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6DADD"/>
            </a:solidFill>
            <a:prstDash val="solid"/>
          </a:ln>
        </p:spPr>
      </p:sp>
      <p:pic>
        <p:nvPicPr>
          <p:cNvPr id="6" name="Image 1" descr="/mnt/data/yolo_quant_assets/cell18_out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877839"/>
            <a:ext cx="3794760" cy="240484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" y="3337560"/>
            <a:ext cx="37947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3: Heatmap of absolute mAP50-95 drop.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690872" y="941832"/>
            <a:ext cx="3648456" cy="2185416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6DADD"/>
            </a:solidFill>
            <a:prstDash val="solid"/>
          </a:ln>
        </p:spPr>
      </p:sp>
      <p:pic>
        <p:nvPicPr>
          <p:cNvPr id="9" name="Image 2" descr="/mnt/data/yolo_quant_assets/cell20_out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1039140"/>
            <a:ext cx="3611880" cy="19908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709160" y="3154680"/>
            <a:ext cx="36118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4: Average sensitivity ranking.</a:t>
            </a:r>
            <a:endParaRPr lang="en-US" sz="700" dirty="0"/>
          </a:p>
        </p:txBody>
      </p:sp>
      <p:sp>
        <p:nvSpPr>
          <p:cNvPr id="11" name="Shape 6"/>
          <p:cNvSpPr/>
          <p:nvPr/>
        </p:nvSpPr>
        <p:spPr>
          <a:xfrm>
            <a:off x="1097280" y="3657600"/>
            <a:ext cx="914400" cy="15544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124712" y="3675888"/>
            <a:ext cx="8595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Rank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2011680" y="3657600"/>
            <a:ext cx="2011680" cy="15544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2039112" y="3675888"/>
            <a:ext cx="195681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Group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023360" y="3657600"/>
            <a:ext cx="1828800" cy="15544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050792" y="3675888"/>
            <a:ext cx="17739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Avg drop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852160" y="3657600"/>
            <a:ext cx="1920240" cy="155448"/>
          </a:xfrm>
          <a:prstGeom prst="rect">
            <a:avLst/>
          </a:prstGeom>
          <a:solidFill>
            <a:srgbClr val="1E2F55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5879592" y="3675888"/>
            <a:ext cx="18653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Worst drop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1097280" y="3813048"/>
            <a:ext cx="91440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1124712" y="3831336"/>
            <a:ext cx="8595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2011680" y="3813048"/>
            <a:ext cx="201168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039112" y="3831336"/>
            <a:ext cx="195681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backbone_early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023360" y="3813048"/>
            <a:ext cx="182880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050792" y="3831336"/>
            <a:ext cx="17739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0.2226</a:t>
            </a:r>
            <a:endParaRPr lang="en-US" sz="1400" dirty="0"/>
          </a:p>
        </p:txBody>
      </p:sp>
      <p:sp>
        <p:nvSpPr>
          <p:cNvPr id="25" name="Shape 20"/>
          <p:cNvSpPr/>
          <p:nvPr/>
        </p:nvSpPr>
        <p:spPr>
          <a:xfrm>
            <a:off x="5852160" y="3813048"/>
            <a:ext cx="192024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5879592" y="3831336"/>
            <a:ext cx="18653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0.4422</a:t>
            </a:r>
            <a:endParaRPr lang="en-US" sz="1400" dirty="0"/>
          </a:p>
        </p:txBody>
      </p:sp>
      <p:sp>
        <p:nvSpPr>
          <p:cNvPr id="27" name="Shape 22"/>
          <p:cNvSpPr/>
          <p:nvPr/>
        </p:nvSpPr>
        <p:spPr>
          <a:xfrm>
            <a:off x="1097280" y="3968496"/>
            <a:ext cx="91440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1124712" y="3986784"/>
            <a:ext cx="8595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400" dirty="0"/>
          </a:p>
        </p:txBody>
      </p:sp>
      <p:sp>
        <p:nvSpPr>
          <p:cNvPr id="29" name="Shape 24"/>
          <p:cNvSpPr/>
          <p:nvPr/>
        </p:nvSpPr>
        <p:spPr>
          <a:xfrm>
            <a:off x="2011680" y="3968496"/>
            <a:ext cx="201168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039112" y="3986784"/>
            <a:ext cx="195681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backbone_deep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4023360" y="3968496"/>
            <a:ext cx="182880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4050792" y="3986784"/>
            <a:ext cx="17739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0.1583</a:t>
            </a:r>
            <a:endParaRPr lang="en-US" sz="1400" dirty="0"/>
          </a:p>
        </p:txBody>
      </p:sp>
      <p:sp>
        <p:nvSpPr>
          <p:cNvPr id="33" name="Shape 28"/>
          <p:cNvSpPr/>
          <p:nvPr/>
        </p:nvSpPr>
        <p:spPr>
          <a:xfrm>
            <a:off x="5852160" y="3968496"/>
            <a:ext cx="192024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4" name="Text 29"/>
          <p:cNvSpPr/>
          <p:nvPr/>
        </p:nvSpPr>
        <p:spPr>
          <a:xfrm>
            <a:off x="5879592" y="3986784"/>
            <a:ext cx="18653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0.4434</a:t>
            </a:r>
            <a:endParaRPr lang="en-US" sz="1400" dirty="0"/>
          </a:p>
        </p:txBody>
      </p:sp>
      <p:sp>
        <p:nvSpPr>
          <p:cNvPr id="35" name="Shape 30"/>
          <p:cNvSpPr/>
          <p:nvPr/>
        </p:nvSpPr>
        <p:spPr>
          <a:xfrm>
            <a:off x="1097280" y="4123944"/>
            <a:ext cx="91440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1124712" y="4142232"/>
            <a:ext cx="8595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400" dirty="0"/>
          </a:p>
        </p:txBody>
      </p:sp>
      <p:sp>
        <p:nvSpPr>
          <p:cNvPr id="37" name="Shape 32"/>
          <p:cNvSpPr/>
          <p:nvPr/>
        </p:nvSpPr>
        <p:spPr>
          <a:xfrm>
            <a:off x="2011680" y="4123944"/>
            <a:ext cx="201168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38" name="Text 33"/>
          <p:cNvSpPr/>
          <p:nvPr/>
        </p:nvSpPr>
        <p:spPr>
          <a:xfrm>
            <a:off x="2039112" y="4142232"/>
            <a:ext cx="195681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</a:t>
            </a:r>
            <a:endParaRPr lang="en-US" sz="1400" dirty="0"/>
          </a:p>
        </p:txBody>
      </p:sp>
      <p:sp>
        <p:nvSpPr>
          <p:cNvPr id="39" name="Shape 34"/>
          <p:cNvSpPr/>
          <p:nvPr/>
        </p:nvSpPr>
        <p:spPr>
          <a:xfrm>
            <a:off x="4023360" y="4123944"/>
            <a:ext cx="182880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0" name="Text 35"/>
          <p:cNvSpPr/>
          <p:nvPr/>
        </p:nvSpPr>
        <p:spPr>
          <a:xfrm>
            <a:off x="4050792" y="4142232"/>
            <a:ext cx="17739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0.1425</a:t>
            </a:r>
            <a:endParaRPr lang="en-US" sz="1400" dirty="0"/>
          </a:p>
        </p:txBody>
      </p:sp>
      <p:sp>
        <p:nvSpPr>
          <p:cNvPr id="41" name="Shape 36"/>
          <p:cNvSpPr/>
          <p:nvPr/>
        </p:nvSpPr>
        <p:spPr>
          <a:xfrm>
            <a:off x="5852160" y="4123944"/>
            <a:ext cx="1920240" cy="155448"/>
          </a:xfrm>
          <a:prstGeom prst="rect">
            <a:avLst/>
          </a:prstGeom>
          <a:solidFill>
            <a:srgbClr val="FFFFFF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5879592" y="4142232"/>
            <a:ext cx="18653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0.3583</a:t>
            </a:r>
            <a:endParaRPr lang="en-US" sz="1400" dirty="0"/>
          </a:p>
        </p:txBody>
      </p:sp>
      <p:sp>
        <p:nvSpPr>
          <p:cNvPr id="43" name="Shape 38"/>
          <p:cNvSpPr/>
          <p:nvPr/>
        </p:nvSpPr>
        <p:spPr>
          <a:xfrm>
            <a:off x="1097280" y="4279392"/>
            <a:ext cx="91440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4" name="Text 39"/>
          <p:cNvSpPr/>
          <p:nvPr/>
        </p:nvSpPr>
        <p:spPr>
          <a:xfrm>
            <a:off x="1124712" y="4297680"/>
            <a:ext cx="8595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400" dirty="0"/>
          </a:p>
        </p:txBody>
      </p:sp>
      <p:sp>
        <p:nvSpPr>
          <p:cNvPr id="45" name="Shape 40"/>
          <p:cNvSpPr/>
          <p:nvPr/>
        </p:nvSpPr>
        <p:spPr>
          <a:xfrm>
            <a:off x="2011680" y="4279392"/>
            <a:ext cx="201168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2039112" y="4297680"/>
            <a:ext cx="195681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neck</a:t>
            </a:r>
            <a:endParaRPr lang="en-US" sz="1400" dirty="0"/>
          </a:p>
        </p:txBody>
      </p:sp>
      <p:sp>
        <p:nvSpPr>
          <p:cNvPr id="47" name="Shape 42"/>
          <p:cNvSpPr/>
          <p:nvPr/>
        </p:nvSpPr>
        <p:spPr>
          <a:xfrm>
            <a:off x="4023360" y="4279392"/>
            <a:ext cx="182880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48" name="Text 43"/>
          <p:cNvSpPr/>
          <p:nvPr/>
        </p:nvSpPr>
        <p:spPr>
          <a:xfrm>
            <a:off x="4050792" y="4297680"/>
            <a:ext cx="177393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0.0958</a:t>
            </a:r>
            <a:endParaRPr lang="en-US" sz="1400" dirty="0"/>
          </a:p>
        </p:txBody>
      </p:sp>
      <p:sp>
        <p:nvSpPr>
          <p:cNvPr id="49" name="Shape 44"/>
          <p:cNvSpPr/>
          <p:nvPr/>
        </p:nvSpPr>
        <p:spPr>
          <a:xfrm>
            <a:off x="5852160" y="4279392"/>
            <a:ext cx="1920240" cy="155448"/>
          </a:xfrm>
          <a:prstGeom prst="rect">
            <a:avLst/>
          </a:prstGeom>
          <a:solidFill>
            <a:srgbClr val="F7F9FC"/>
          </a:solidFill>
          <a:ln w="4445">
            <a:solidFill>
              <a:srgbClr val="C8CDD2"/>
            </a:solidFill>
            <a:prstDash val="solid"/>
          </a:ln>
        </p:spPr>
      </p:sp>
      <p:sp>
        <p:nvSpPr>
          <p:cNvPr id="50" name="Text 45"/>
          <p:cNvSpPr/>
          <p:nvPr/>
        </p:nvSpPr>
        <p:spPr>
          <a:xfrm>
            <a:off x="5879592" y="4297680"/>
            <a:ext cx="1865376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0.2804</a:t>
            </a:r>
            <a:endParaRPr lang="en-US" sz="1400" dirty="0"/>
          </a:p>
        </p:txBody>
      </p:sp>
      <p:sp>
        <p:nvSpPr>
          <p:cNvPr id="52" name="Text 47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17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I: 8-bit Is Safe, but 6-bit Requires Selective Design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Accuracy loss differs sharply across YOLO groups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521208" y="1078992"/>
            <a:ext cx="1261872" cy="667512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4360" y="1152144"/>
            <a:ext cx="11155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2.33%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94360" y="1389888"/>
            <a:ext cx="1115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backbone_early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mAP drop</a:t>
            </a:r>
            <a:endParaRPr lang="en-US" sz="720" dirty="0"/>
          </a:p>
        </p:txBody>
      </p:sp>
      <p:sp>
        <p:nvSpPr>
          <p:cNvPr id="8" name="Shape 5"/>
          <p:cNvSpPr/>
          <p:nvPr/>
        </p:nvSpPr>
        <p:spPr>
          <a:xfrm>
            <a:off x="2194560" y="1078992"/>
            <a:ext cx="1261872" cy="667512"/>
          </a:xfrm>
          <a:prstGeom prst="rect">
            <a:avLst/>
          </a:prstGeom>
          <a:solidFill>
            <a:srgbClr val="DDEEDC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267712" y="1152144"/>
            <a:ext cx="11155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−0.36%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2267712" y="1389888"/>
            <a:ext cx="1115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backbone_deep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mAP change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3867912" y="1078992"/>
            <a:ext cx="1261872" cy="667512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941064" y="1152144"/>
            <a:ext cx="11155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0.24%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3941064" y="1389888"/>
            <a:ext cx="1115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neck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mAP drop</a:t>
            </a:r>
            <a:endParaRPr lang="en-US" sz="720" dirty="0"/>
          </a:p>
        </p:txBody>
      </p:sp>
      <p:sp>
        <p:nvSpPr>
          <p:cNvPr id="14" name="Shape 11"/>
          <p:cNvSpPr/>
          <p:nvPr/>
        </p:nvSpPr>
        <p:spPr>
          <a:xfrm>
            <a:off x="5541264" y="1078992"/>
            <a:ext cx="1261872" cy="667512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14416" y="1152144"/>
            <a:ext cx="11155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0.63%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5614416" y="1389888"/>
            <a:ext cx="1115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head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mAP drop</a:t>
            </a:r>
            <a:endParaRPr lang="en-US" sz="720" dirty="0"/>
          </a:p>
        </p:txBody>
      </p:sp>
      <p:sp>
        <p:nvSpPr>
          <p:cNvPr id="17" name="Shape 14"/>
          <p:cNvSpPr/>
          <p:nvPr/>
        </p:nvSpPr>
        <p:spPr>
          <a:xfrm>
            <a:off x="7214616" y="1078992"/>
            <a:ext cx="1261872" cy="667512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E1E4E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87768" y="1152144"/>
            <a:ext cx="1115568" cy="2286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4.44%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7287768" y="1389888"/>
            <a:ext cx="1115568" cy="3200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all</a:t>
            </a:r>
            <a:endParaRPr lang="en-US" sz="720" dirty="0"/>
          </a:p>
          <a:p>
            <a:pPr marL="0" indent="0">
              <a:buNone/>
            </a:pPr>
            <a:r>
              <a:rPr lang="en-US" sz="72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mAP drop</a:t>
            </a:r>
            <a:endParaRPr lang="en-US" sz="720" dirty="0"/>
          </a:p>
        </p:txBody>
      </p:sp>
      <p:sp>
        <p:nvSpPr>
          <p:cNvPr id="20" name="Text 17"/>
          <p:cNvSpPr/>
          <p:nvPr/>
        </p:nvSpPr>
        <p:spPr>
          <a:xfrm>
            <a:off x="749808" y="2240280"/>
            <a:ext cx="2103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6-bit observations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822960" y="2606040"/>
            <a:ext cx="7498080" cy="11155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neck: only 1.33% mAP drop → strong low-bit candidate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backbone_deep: 7.50% drop → likely acceptable with calibration/QAT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head: 14.95% drop → should be protected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backbone_early: 48.47% drop → highly sensitive to activation quantization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• all layers: 67.62% drop → error accumulation dominates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58368" y="4069080"/>
            <a:ext cx="7909560" cy="498348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2C96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41248" y="4151376"/>
            <a:ext cx="754380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Suggested policy: use INT8 globally as a safe baseline; explore INT6 first in neck and possibly deep backbone.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endParaRPr lang="en-US" sz="7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Finding II: 4-bit Uniform Quantization Breaks YOLO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Ablation reveals activation quantization as a major source of collapse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484632" y="941832"/>
            <a:ext cx="4151376" cy="2414016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6DADD"/>
            </a:solidFill>
            <a:prstDash val="solid"/>
          </a:ln>
        </p:spPr>
      </p:sp>
      <p:pic>
        <p:nvPicPr>
          <p:cNvPr id="6" name="Image 1" descr="/mnt/data/yolo_quant_assets/cell23_out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127927"/>
            <a:ext cx="4114800" cy="204182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920" y="3383280"/>
            <a:ext cx="4114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5: Weight-only, activation-only, and W+A ablation at 4-bit.</a:t>
            </a:r>
            <a:endParaRPr lang="en-US" sz="700" dirty="0"/>
          </a:p>
        </p:txBody>
      </p:sp>
      <p:sp>
        <p:nvSpPr>
          <p:cNvPr id="8" name="Shape 4"/>
          <p:cNvSpPr/>
          <p:nvPr/>
        </p:nvSpPr>
        <p:spPr>
          <a:xfrm>
            <a:off x="4937760" y="1005840"/>
            <a:ext cx="3465576" cy="2185416"/>
          </a:xfrm>
          <a:prstGeom prst="rect">
            <a:avLst/>
          </a:prstGeom>
          <a:solidFill>
            <a:srgbClr val="FFFFFF">
              <a:alpha val="97000"/>
            </a:srgbClr>
          </a:solidFill>
          <a:ln w="7620">
            <a:solidFill>
              <a:srgbClr val="D6DADD"/>
            </a:solidFill>
            <a:prstDash val="solid"/>
          </a:ln>
        </p:spPr>
      </p:sp>
      <p:pic>
        <p:nvPicPr>
          <p:cNvPr id="9" name="Image 2" descr="/mnt/data/yolo_quant_assets/cell29_out0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1250833"/>
            <a:ext cx="3429000" cy="1695431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956048" y="3218688"/>
            <a:ext cx="34290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700" dirty="0">
                <a:solidFill>
                  <a:srgbClr val="515A6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Fig. 6: Parameter share of quantized groups.</a:t>
            </a:r>
            <a:endParaRPr lang="en-US" sz="700" dirty="0"/>
          </a:p>
        </p:txBody>
      </p:sp>
      <p:sp>
        <p:nvSpPr>
          <p:cNvPr id="11" name="Text 6"/>
          <p:cNvSpPr/>
          <p:nvPr/>
        </p:nvSpPr>
        <p:spPr>
          <a:xfrm>
            <a:off x="658368" y="3730752"/>
            <a:ext cx="164592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6A2EB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FPGA implication:</a:t>
            </a:r>
            <a:endParaRPr lang="en-US" sz="1400" dirty="0"/>
          </a:p>
        </p:txBody>
      </p:sp>
      <p:sp>
        <p:nvSpPr>
          <p:cNvPr id="12" name="Text 7"/>
          <p:cNvSpPr/>
          <p:nvPr/>
        </p:nvSpPr>
        <p:spPr>
          <a:xfrm>
            <a:off x="2514600" y="3749040"/>
            <a:ext cx="55778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Although backbone_deep has the largest parameter share, direct 4-bit quantization destroys accuracy. Neck is a better low-bit target because it has large parameter share and lower average sensitivity.</a:t>
            </a:r>
            <a:endParaRPr lang="en-US" sz="1400" dirty="0"/>
          </a:p>
        </p:txBody>
      </p:sp>
      <p:sp>
        <p:nvSpPr>
          <p:cNvPr id="14" name="Text 9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19</a:t>
            </a:r>
            <a:endParaRPr lang="en-US" sz="7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286000" y="231343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altLang="zh-TW" sz="2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altLang="zh-TW" sz="2400" dirty="0"/>
          </a:p>
        </p:txBody>
      </p:sp>
      <p:sp>
        <p:nvSpPr>
          <p:cNvPr id="5" name="Text 2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13</a:t>
            </a:r>
            <a:endParaRPr lang="en-US" sz="700" dirty="0"/>
          </a:p>
        </p:txBody>
      </p:sp>
    </p:spTree>
    <p:extLst>
      <p:ext uri="{BB962C8B-B14F-4D97-AF65-F5344CB8AC3E}">
        <p14:creationId xmlns:p14="http://schemas.microsoft.com/office/powerpoint/2010/main" val="34718034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emplate_blank_render/slide-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84048" y="256032"/>
            <a:ext cx="8412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Takeaways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84048" y="576072"/>
            <a:ext cx="82296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r>
              <a:rPr lang="en-US" sz="780" i="1" dirty="0">
                <a:solidFill>
                  <a:srgbClr val="8D56B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Layer-wise sensitivity turns quantization into a design methodology</a:t>
            </a:r>
            <a:endParaRPr lang="en-US" sz="780" dirty="0"/>
          </a:p>
        </p:txBody>
      </p:sp>
      <p:sp>
        <p:nvSpPr>
          <p:cNvPr id="5" name="Shape 2"/>
          <p:cNvSpPr/>
          <p:nvPr/>
        </p:nvSpPr>
        <p:spPr>
          <a:xfrm>
            <a:off x="658368" y="9144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EDE5F5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85800" y="941832"/>
            <a:ext cx="14538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2423160" y="932688"/>
            <a:ext cx="5760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8-bit quantization is a robust FPGA-oriented baseline.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58368" y="16002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E5F0FA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85800" y="1627632"/>
            <a:ext cx="14538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2423160" y="1618488"/>
            <a:ext cx="5760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6-bit quantization should be applied selectively; neck is the safest group.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58368" y="22860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EDE5F5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85800" y="2313432"/>
            <a:ext cx="14538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423160" y="2304288"/>
            <a:ext cx="5760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Uniform 4-bit quantization is not suitable without calibration, QAT, or mixed precision.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58368" y="2971800"/>
            <a:ext cx="1508760" cy="320040"/>
          </a:xfrm>
          <a:prstGeom prst="roundRect">
            <a:avLst>
              <a:gd name="adj" fmla="val 22857"/>
            </a:avLst>
          </a:prstGeom>
          <a:solidFill>
            <a:srgbClr val="E5F0FA"/>
          </a:solidFill>
          <a:ln w="5080">
            <a:solidFill>
              <a:srgbClr val="C8CDD2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85800" y="2999232"/>
            <a:ext cx="1453896" cy="26517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2423160" y="2990088"/>
            <a:ext cx="576072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Sensitivity ranking provides a practical guide for FPGA accelerator bit-width allocation.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13232" y="3931920"/>
            <a:ext cx="7589520" cy="685800"/>
          </a:xfrm>
          <a:prstGeom prst="rect">
            <a:avLst/>
          </a:prstGeom>
          <a:solidFill>
            <a:srgbClr val="FFF2CC">
              <a:alpha val="97000"/>
            </a:srgbClr>
          </a:solidFill>
          <a:ln w="7620">
            <a:solidFill>
              <a:srgbClr val="E2C96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96112" y="4050792"/>
            <a:ext cx="722376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Autofit/>
          </a:bodyPr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work: calibration dataset enlargement, per-channel scaling, quantization-aware training, ONNX/TensorRT validation, and HLS/RTL implementation.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8558784" y="4617720"/>
            <a:ext cx="25603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00" dirty="0">
                <a:solidFill>
                  <a:srgbClr val="1E2F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3218</TotalTime>
  <Words>2002</Words>
  <Application>Microsoft Office PowerPoint</Application>
  <PresentationFormat>如螢幕大小 (16:9)</PresentationFormat>
  <Paragraphs>430</Paragraphs>
  <Slides>27</Slides>
  <Notes>26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27</vt:i4>
      </vt:variant>
    </vt:vector>
  </HeadingPairs>
  <TitlesOfParts>
    <vt:vector size="31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Nano/Micro Engineering Analysis and Fabrication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FPGA-Oriented Quantization Sensitivity Analysis of YOLO Layers</dc:title>
  <dc:subject>FPGA-Oriented Quantization Sensitivity Analysis of YOLO Layers</dc:subject>
  <dc:creator>OpenAI</dc:creator>
  <cp:lastModifiedBy>黃裕傑</cp:lastModifiedBy>
  <cp:revision>30</cp:revision>
  <dcterms:created xsi:type="dcterms:W3CDTF">2026-06-13T19:50:51Z</dcterms:created>
  <dcterms:modified xsi:type="dcterms:W3CDTF">2026-06-16T01:47:23Z</dcterms:modified>
</cp:coreProperties>
</file>